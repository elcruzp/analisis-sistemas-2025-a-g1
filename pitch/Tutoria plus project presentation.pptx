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210 클레이토이" panose="020B0604020202020204" charset="-127"/>
      <p:regular r:id="rId12"/>
    </p:embeddedFont>
    <p:embeddedFont>
      <p:font typeface="Agrandir" panose="020B0604020202020204" charset="0"/>
      <p:regular r:id="rId13"/>
    </p:embeddedFont>
    <p:embeddedFont>
      <p:font typeface="Agrandir Bold" panose="020B0604020202020204" charset="0"/>
      <p:regular r:id="rId14"/>
    </p:embeddedFont>
    <p:embeddedFont>
      <p:font typeface="Agrandir Medium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6" d="100"/>
          <a:sy n="56" d="100"/>
        </p:scale>
        <p:origin x="365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8.sv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8.svg"/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12" Type="http://schemas.openxmlformats.org/officeDocument/2006/relationships/image" Target="../media/image2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11" Type="http://schemas.openxmlformats.org/officeDocument/2006/relationships/image" Target="../media/image20.svg"/><Relationship Id="rId5" Type="http://schemas.openxmlformats.org/officeDocument/2006/relationships/image" Target="../media/image24.svg"/><Relationship Id="rId10" Type="http://schemas.openxmlformats.org/officeDocument/2006/relationships/image" Target="../media/image19.png"/><Relationship Id="rId4" Type="http://schemas.openxmlformats.org/officeDocument/2006/relationships/image" Target="../media/image23.png"/><Relationship Id="rId9" Type="http://schemas.openxmlformats.org/officeDocument/2006/relationships/image" Target="../media/image1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0.svg"/><Relationship Id="rId7" Type="http://schemas.openxmlformats.org/officeDocument/2006/relationships/image" Target="../media/image2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8.svg"/><Relationship Id="rId5" Type="http://schemas.openxmlformats.org/officeDocument/2006/relationships/image" Target="../media/image16.svg"/><Relationship Id="rId10" Type="http://schemas.openxmlformats.org/officeDocument/2006/relationships/image" Target="../media/image7.png"/><Relationship Id="rId4" Type="http://schemas.openxmlformats.org/officeDocument/2006/relationships/image" Target="../media/image15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4.svg"/><Relationship Id="rId3" Type="http://schemas.openxmlformats.org/officeDocument/2006/relationships/image" Target="../media/image38.svg"/><Relationship Id="rId7" Type="http://schemas.openxmlformats.org/officeDocument/2006/relationships/image" Target="../media/image14.svg"/><Relationship Id="rId12" Type="http://schemas.openxmlformats.org/officeDocument/2006/relationships/image" Target="../media/image43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42.svg"/><Relationship Id="rId5" Type="http://schemas.openxmlformats.org/officeDocument/2006/relationships/image" Target="../media/image40.svg"/><Relationship Id="rId15" Type="http://schemas.openxmlformats.org/officeDocument/2006/relationships/image" Target="../media/image46.svg"/><Relationship Id="rId10" Type="http://schemas.openxmlformats.org/officeDocument/2006/relationships/image" Target="../media/image41.png"/><Relationship Id="rId4" Type="http://schemas.openxmlformats.org/officeDocument/2006/relationships/image" Target="../media/image39.png"/><Relationship Id="rId9" Type="http://schemas.openxmlformats.org/officeDocument/2006/relationships/image" Target="../media/image36.svg"/><Relationship Id="rId14" Type="http://schemas.openxmlformats.org/officeDocument/2006/relationships/image" Target="../media/image4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7" Type="http://schemas.openxmlformats.org/officeDocument/2006/relationships/image" Target="../media/image24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52.svg"/><Relationship Id="rId7" Type="http://schemas.openxmlformats.org/officeDocument/2006/relationships/image" Target="../media/image20.sv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56.svg"/><Relationship Id="rId5" Type="http://schemas.openxmlformats.org/officeDocument/2006/relationships/image" Target="../media/image54.svg"/><Relationship Id="rId10" Type="http://schemas.openxmlformats.org/officeDocument/2006/relationships/image" Target="../media/image55.png"/><Relationship Id="rId4" Type="http://schemas.openxmlformats.org/officeDocument/2006/relationships/image" Target="../media/image53.png"/><Relationship Id="rId9" Type="http://schemas.openxmlformats.org/officeDocument/2006/relationships/image" Target="../media/image14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8.svg"/><Relationship Id="rId7" Type="http://schemas.openxmlformats.org/officeDocument/2006/relationships/image" Target="../media/image20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60.svg"/><Relationship Id="rId5" Type="http://schemas.openxmlformats.org/officeDocument/2006/relationships/image" Target="../media/image58.svg"/><Relationship Id="rId10" Type="http://schemas.openxmlformats.org/officeDocument/2006/relationships/image" Target="../media/image59.png"/><Relationship Id="rId4" Type="http://schemas.openxmlformats.org/officeDocument/2006/relationships/image" Target="../media/image57.png"/><Relationship Id="rId9" Type="http://schemas.openxmlformats.org/officeDocument/2006/relationships/image" Target="../media/image40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.svg"/><Relationship Id="rId7" Type="http://schemas.openxmlformats.org/officeDocument/2006/relationships/image" Target="../media/image6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png"/><Relationship Id="rId11" Type="http://schemas.openxmlformats.org/officeDocument/2006/relationships/image" Target="../media/image14.svg"/><Relationship Id="rId5" Type="http://schemas.openxmlformats.org/officeDocument/2006/relationships/image" Target="../media/image62.svg"/><Relationship Id="rId10" Type="http://schemas.openxmlformats.org/officeDocument/2006/relationships/image" Target="../media/image13.png"/><Relationship Id="rId4" Type="http://schemas.openxmlformats.org/officeDocument/2006/relationships/image" Target="../media/image61.png"/><Relationship Id="rId9" Type="http://schemas.openxmlformats.org/officeDocument/2006/relationships/image" Target="../media/image2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8A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47103" y="1252510"/>
            <a:ext cx="14993794" cy="7781979"/>
          </a:xfrm>
          <a:custGeom>
            <a:avLst/>
            <a:gdLst/>
            <a:ahLst/>
            <a:cxnLst/>
            <a:rect l="l" t="t" r="r" b="b"/>
            <a:pathLst>
              <a:path w="14993794" h="7781979">
                <a:moveTo>
                  <a:pt x="0" y="0"/>
                </a:moveTo>
                <a:lnTo>
                  <a:pt x="14993794" y="0"/>
                </a:lnTo>
                <a:lnTo>
                  <a:pt x="14993794" y="7781980"/>
                </a:lnTo>
                <a:lnTo>
                  <a:pt x="0" y="77819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227026" y="3150006"/>
            <a:ext cx="4789070" cy="9719514"/>
          </a:xfrm>
          <a:custGeom>
            <a:avLst/>
            <a:gdLst/>
            <a:ahLst/>
            <a:cxnLst/>
            <a:rect l="l" t="t" r="r" b="b"/>
            <a:pathLst>
              <a:path w="4789070" h="9719514">
                <a:moveTo>
                  <a:pt x="0" y="0"/>
                </a:moveTo>
                <a:lnTo>
                  <a:pt x="4789070" y="0"/>
                </a:lnTo>
                <a:lnTo>
                  <a:pt x="4789070" y="9719514"/>
                </a:lnTo>
                <a:lnTo>
                  <a:pt x="0" y="97195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1424261" y="2618034"/>
            <a:ext cx="7873842" cy="13924801"/>
          </a:xfrm>
          <a:custGeom>
            <a:avLst/>
            <a:gdLst/>
            <a:ahLst/>
            <a:cxnLst/>
            <a:rect l="l" t="t" r="r" b="b"/>
            <a:pathLst>
              <a:path w="7873842" h="13924801">
                <a:moveTo>
                  <a:pt x="0" y="0"/>
                </a:moveTo>
                <a:lnTo>
                  <a:pt x="7873842" y="0"/>
                </a:lnTo>
                <a:lnTo>
                  <a:pt x="7873842" y="13924801"/>
                </a:lnTo>
                <a:lnTo>
                  <a:pt x="0" y="1392480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-962001" y="-2075623"/>
            <a:ext cx="4463787" cy="4114800"/>
          </a:xfrm>
          <a:custGeom>
            <a:avLst/>
            <a:gdLst/>
            <a:ahLst/>
            <a:cxnLst/>
            <a:rect l="l" t="t" r="r" b="b"/>
            <a:pathLst>
              <a:path w="4463787" h="4114800">
                <a:moveTo>
                  <a:pt x="0" y="0"/>
                </a:moveTo>
                <a:lnTo>
                  <a:pt x="4463787" y="0"/>
                </a:lnTo>
                <a:lnTo>
                  <a:pt x="446378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 rot="1986986">
            <a:off x="15546054" y="-2381944"/>
            <a:ext cx="4463787" cy="4114800"/>
          </a:xfrm>
          <a:custGeom>
            <a:avLst/>
            <a:gdLst/>
            <a:ahLst/>
            <a:cxnLst/>
            <a:rect l="l" t="t" r="r" b="b"/>
            <a:pathLst>
              <a:path w="4463787" h="4114800">
                <a:moveTo>
                  <a:pt x="0" y="0"/>
                </a:moveTo>
                <a:lnTo>
                  <a:pt x="4463787" y="0"/>
                </a:lnTo>
                <a:lnTo>
                  <a:pt x="446378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3647775" y="2074187"/>
            <a:ext cx="10453263" cy="25765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771"/>
              </a:lnSpc>
            </a:pPr>
            <a:r>
              <a:rPr lang="en-US" sz="9855">
                <a:solidFill>
                  <a:srgbClr val="000000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TUTORIA PLUS</a:t>
            </a:r>
          </a:p>
          <a:p>
            <a:pPr algn="ctr">
              <a:lnSpc>
                <a:spcPts val="5656"/>
              </a:lnSpc>
            </a:pPr>
            <a:r>
              <a:rPr lang="en-US" sz="6356">
                <a:solidFill>
                  <a:srgbClr val="000000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SISTEMA WEB DE GESTIÓN DE TUTORÍAS ACADÉMICAS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931548" y="5436987"/>
            <a:ext cx="7885718" cy="977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52"/>
              </a:lnSpc>
            </a:pPr>
            <a:r>
              <a:rPr lang="en-US" sz="2809" b="1">
                <a:solidFill>
                  <a:srgbClr val="000000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Corporación universitaria del Huila - Corhuila</a:t>
            </a:r>
          </a:p>
          <a:p>
            <a:pPr algn="ctr">
              <a:lnSpc>
                <a:spcPts val="3652"/>
              </a:lnSpc>
            </a:pPr>
            <a:r>
              <a:rPr lang="en-US" sz="2809" b="1">
                <a:solidFill>
                  <a:srgbClr val="000000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Análisis de Sistemas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415284" y="7204753"/>
            <a:ext cx="7457432" cy="5183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52"/>
              </a:lnSpc>
            </a:pPr>
            <a:r>
              <a:rPr lang="en-US" sz="2809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Juan Camilo Cruz &amp; Juan Sebastián Osorio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8A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7487" y="3978803"/>
            <a:ext cx="8615172" cy="26039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770"/>
              </a:lnSpc>
            </a:pPr>
            <a:r>
              <a:rPr lang="en-US" sz="10978">
                <a:solidFill>
                  <a:srgbClr val="FFFFF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PROBLEMA</a:t>
            </a:r>
          </a:p>
          <a:p>
            <a:pPr algn="l">
              <a:lnSpc>
                <a:spcPts val="9770"/>
              </a:lnSpc>
            </a:pPr>
            <a:r>
              <a:rPr lang="en-US" sz="10978">
                <a:solidFill>
                  <a:srgbClr val="FFFFF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IDENTIFICADO</a:t>
            </a:r>
          </a:p>
        </p:txBody>
      </p:sp>
      <p:sp>
        <p:nvSpPr>
          <p:cNvPr id="3" name="Freeform 3"/>
          <p:cNvSpPr/>
          <p:nvPr/>
        </p:nvSpPr>
        <p:spPr>
          <a:xfrm>
            <a:off x="9392659" y="885147"/>
            <a:ext cx="15335160" cy="7959153"/>
          </a:xfrm>
          <a:custGeom>
            <a:avLst/>
            <a:gdLst/>
            <a:ahLst/>
            <a:cxnLst/>
            <a:rect l="l" t="t" r="r" b="b"/>
            <a:pathLst>
              <a:path w="15335160" h="7959153">
                <a:moveTo>
                  <a:pt x="0" y="0"/>
                </a:moveTo>
                <a:lnTo>
                  <a:pt x="15335160" y="0"/>
                </a:lnTo>
                <a:lnTo>
                  <a:pt x="15335160" y="7959153"/>
                </a:lnTo>
                <a:lnTo>
                  <a:pt x="0" y="79591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0380630" y="4523350"/>
            <a:ext cx="215998" cy="222679"/>
          </a:xfrm>
          <a:custGeom>
            <a:avLst/>
            <a:gdLst/>
            <a:ahLst/>
            <a:cxnLst/>
            <a:rect l="l" t="t" r="r" b="b"/>
            <a:pathLst>
              <a:path w="215998" h="222679">
                <a:moveTo>
                  <a:pt x="0" y="0"/>
                </a:moveTo>
                <a:lnTo>
                  <a:pt x="215998" y="0"/>
                </a:lnTo>
                <a:lnTo>
                  <a:pt x="215998" y="222679"/>
                </a:lnTo>
                <a:lnTo>
                  <a:pt x="0" y="2226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 rot="579840">
            <a:off x="7741338" y="249005"/>
            <a:ext cx="3302641" cy="3974733"/>
          </a:xfrm>
          <a:custGeom>
            <a:avLst/>
            <a:gdLst/>
            <a:ahLst/>
            <a:cxnLst/>
            <a:rect l="l" t="t" r="r" b="b"/>
            <a:pathLst>
              <a:path w="3302641" h="3974733">
                <a:moveTo>
                  <a:pt x="0" y="0"/>
                </a:moveTo>
                <a:lnTo>
                  <a:pt x="3302641" y="0"/>
                </a:lnTo>
                <a:lnTo>
                  <a:pt x="3302641" y="3974733"/>
                </a:lnTo>
                <a:lnTo>
                  <a:pt x="0" y="397473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-180161" y="7068312"/>
            <a:ext cx="7315200" cy="3218688"/>
          </a:xfrm>
          <a:custGeom>
            <a:avLst/>
            <a:gdLst/>
            <a:ahLst/>
            <a:cxnLst/>
            <a:rect l="l" t="t" r="r" b="b"/>
            <a:pathLst>
              <a:path w="7315200" h="3218688">
                <a:moveTo>
                  <a:pt x="0" y="0"/>
                </a:moveTo>
                <a:lnTo>
                  <a:pt x="7315200" y="0"/>
                </a:lnTo>
                <a:lnTo>
                  <a:pt x="7315200" y="3218688"/>
                </a:lnTo>
                <a:lnTo>
                  <a:pt x="0" y="321868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4290768" y="6331057"/>
            <a:ext cx="5042404" cy="5395569"/>
          </a:xfrm>
          <a:custGeom>
            <a:avLst/>
            <a:gdLst/>
            <a:ahLst/>
            <a:cxnLst/>
            <a:rect l="l" t="t" r="r" b="b"/>
            <a:pathLst>
              <a:path w="5042404" h="5395569">
                <a:moveTo>
                  <a:pt x="0" y="0"/>
                </a:moveTo>
                <a:lnTo>
                  <a:pt x="5042404" y="0"/>
                </a:lnTo>
                <a:lnTo>
                  <a:pt x="5042404" y="5395569"/>
                </a:lnTo>
                <a:lnTo>
                  <a:pt x="0" y="539556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 rot="1744881">
            <a:off x="-1167691" y="-2057400"/>
            <a:ext cx="3890356" cy="4114800"/>
          </a:xfrm>
          <a:custGeom>
            <a:avLst/>
            <a:gdLst/>
            <a:ahLst/>
            <a:cxnLst/>
            <a:rect l="l" t="t" r="r" b="b"/>
            <a:pathLst>
              <a:path w="3890356" h="4114800">
                <a:moveTo>
                  <a:pt x="0" y="0"/>
                </a:moveTo>
                <a:lnTo>
                  <a:pt x="3890356" y="0"/>
                </a:lnTo>
                <a:lnTo>
                  <a:pt x="389035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11038331" y="1452883"/>
            <a:ext cx="6845412" cy="27340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13"/>
              </a:lnSpc>
            </a:pPr>
            <a:r>
              <a:rPr lang="en-US" sz="2409" b="1">
                <a:solidFill>
                  <a:srgbClr val="000000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Muchos estudiantes enfrentan dificultades para encontrar y agendar tutorías académicas de manera rápida y organizada, lo que afecta su rendimiento y continuidad académica.</a:t>
            </a:r>
          </a:p>
        </p:txBody>
      </p:sp>
      <p:sp>
        <p:nvSpPr>
          <p:cNvPr id="10" name="Freeform 10"/>
          <p:cNvSpPr/>
          <p:nvPr/>
        </p:nvSpPr>
        <p:spPr>
          <a:xfrm>
            <a:off x="3947737" y="-2273552"/>
            <a:ext cx="4463787" cy="4114800"/>
          </a:xfrm>
          <a:custGeom>
            <a:avLst/>
            <a:gdLst/>
            <a:ahLst/>
            <a:cxnLst/>
            <a:rect l="l" t="t" r="r" b="b"/>
            <a:pathLst>
              <a:path w="4463787" h="4114800">
                <a:moveTo>
                  <a:pt x="0" y="0"/>
                </a:moveTo>
                <a:lnTo>
                  <a:pt x="4463787" y="0"/>
                </a:lnTo>
                <a:lnTo>
                  <a:pt x="446378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10731677" y="4272717"/>
            <a:ext cx="6845412" cy="562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13"/>
              </a:lnSpc>
            </a:pPr>
            <a:r>
              <a:rPr lang="en-US" sz="2409" b="1">
                <a:solidFill>
                  <a:srgbClr val="000000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Agendamiento manual o ineficiente</a:t>
            </a:r>
          </a:p>
        </p:txBody>
      </p:sp>
      <p:sp>
        <p:nvSpPr>
          <p:cNvPr id="12" name="Freeform 12"/>
          <p:cNvSpPr/>
          <p:nvPr/>
        </p:nvSpPr>
        <p:spPr>
          <a:xfrm>
            <a:off x="10380630" y="5090900"/>
            <a:ext cx="215998" cy="222679"/>
          </a:xfrm>
          <a:custGeom>
            <a:avLst/>
            <a:gdLst/>
            <a:ahLst/>
            <a:cxnLst/>
            <a:rect l="l" t="t" r="r" b="b"/>
            <a:pathLst>
              <a:path w="215998" h="222679">
                <a:moveTo>
                  <a:pt x="0" y="0"/>
                </a:moveTo>
                <a:lnTo>
                  <a:pt x="215998" y="0"/>
                </a:lnTo>
                <a:lnTo>
                  <a:pt x="215998" y="222679"/>
                </a:lnTo>
                <a:lnTo>
                  <a:pt x="0" y="2226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10731677" y="4840267"/>
            <a:ext cx="6845412" cy="562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13"/>
              </a:lnSpc>
            </a:pPr>
            <a:r>
              <a:rPr lang="en-US" sz="2409" b="1">
                <a:solidFill>
                  <a:srgbClr val="000000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Falta de seguimiento a los encuentros</a:t>
            </a:r>
          </a:p>
        </p:txBody>
      </p:sp>
      <p:sp>
        <p:nvSpPr>
          <p:cNvPr id="14" name="Freeform 14"/>
          <p:cNvSpPr/>
          <p:nvPr/>
        </p:nvSpPr>
        <p:spPr>
          <a:xfrm>
            <a:off x="10380630" y="5655309"/>
            <a:ext cx="215998" cy="222679"/>
          </a:xfrm>
          <a:custGeom>
            <a:avLst/>
            <a:gdLst/>
            <a:ahLst/>
            <a:cxnLst/>
            <a:rect l="l" t="t" r="r" b="b"/>
            <a:pathLst>
              <a:path w="215998" h="222679">
                <a:moveTo>
                  <a:pt x="0" y="0"/>
                </a:moveTo>
                <a:lnTo>
                  <a:pt x="215998" y="0"/>
                </a:lnTo>
                <a:lnTo>
                  <a:pt x="215998" y="222679"/>
                </a:lnTo>
                <a:lnTo>
                  <a:pt x="0" y="2226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10731677" y="5404676"/>
            <a:ext cx="6845412" cy="562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13"/>
              </a:lnSpc>
            </a:pPr>
            <a:r>
              <a:rPr lang="en-US" sz="2409" b="1">
                <a:solidFill>
                  <a:srgbClr val="000000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Información dispersa y poco accesible</a:t>
            </a:r>
          </a:p>
        </p:txBody>
      </p:sp>
      <p:sp>
        <p:nvSpPr>
          <p:cNvPr id="16" name="Freeform 16"/>
          <p:cNvSpPr/>
          <p:nvPr/>
        </p:nvSpPr>
        <p:spPr>
          <a:xfrm>
            <a:off x="10380630" y="6219718"/>
            <a:ext cx="215998" cy="222679"/>
          </a:xfrm>
          <a:custGeom>
            <a:avLst/>
            <a:gdLst/>
            <a:ahLst/>
            <a:cxnLst/>
            <a:rect l="l" t="t" r="r" b="b"/>
            <a:pathLst>
              <a:path w="215998" h="222679">
                <a:moveTo>
                  <a:pt x="0" y="0"/>
                </a:moveTo>
                <a:lnTo>
                  <a:pt x="215998" y="0"/>
                </a:lnTo>
                <a:lnTo>
                  <a:pt x="215998" y="222678"/>
                </a:lnTo>
                <a:lnTo>
                  <a:pt x="0" y="22267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17"/>
          <p:cNvSpPr txBox="1"/>
          <p:nvPr/>
        </p:nvSpPr>
        <p:spPr>
          <a:xfrm>
            <a:off x="10731677" y="5969085"/>
            <a:ext cx="6328561" cy="1105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13"/>
              </a:lnSpc>
            </a:pPr>
            <a:r>
              <a:rPr lang="en-US" sz="2409" b="1">
                <a:solidFill>
                  <a:srgbClr val="000000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Baja retención de estudiantes por falta de apoyo académico oportuno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007289" y="4087050"/>
            <a:ext cx="5250328" cy="2962603"/>
            <a:chOff x="0" y="0"/>
            <a:chExt cx="1382802" cy="78027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82802" cy="780274"/>
            </a:xfrm>
            <a:custGeom>
              <a:avLst/>
              <a:gdLst/>
              <a:ahLst/>
              <a:cxnLst/>
              <a:rect l="l" t="t" r="r" b="b"/>
              <a:pathLst>
                <a:path w="1382802" h="780274">
                  <a:moveTo>
                    <a:pt x="56033" y="0"/>
                  </a:moveTo>
                  <a:lnTo>
                    <a:pt x="1326769" y="0"/>
                  </a:lnTo>
                  <a:cubicBezTo>
                    <a:pt x="1341630" y="0"/>
                    <a:pt x="1355882" y="5903"/>
                    <a:pt x="1366391" y="16412"/>
                  </a:cubicBezTo>
                  <a:cubicBezTo>
                    <a:pt x="1376899" y="26920"/>
                    <a:pt x="1382802" y="41172"/>
                    <a:pt x="1382802" y="56033"/>
                  </a:cubicBezTo>
                  <a:lnTo>
                    <a:pt x="1382802" y="724241"/>
                  </a:lnTo>
                  <a:cubicBezTo>
                    <a:pt x="1382802" y="739102"/>
                    <a:pt x="1376899" y="753354"/>
                    <a:pt x="1366391" y="763862"/>
                  </a:cubicBezTo>
                  <a:cubicBezTo>
                    <a:pt x="1355882" y="774371"/>
                    <a:pt x="1341630" y="780274"/>
                    <a:pt x="1326769" y="780274"/>
                  </a:cubicBezTo>
                  <a:lnTo>
                    <a:pt x="56033" y="780274"/>
                  </a:lnTo>
                  <a:cubicBezTo>
                    <a:pt x="25087" y="780274"/>
                    <a:pt x="0" y="755187"/>
                    <a:pt x="0" y="724241"/>
                  </a:cubicBezTo>
                  <a:lnTo>
                    <a:pt x="0" y="56033"/>
                  </a:lnTo>
                  <a:cubicBezTo>
                    <a:pt x="0" y="41172"/>
                    <a:pt x="5903" y="26920"/>
                    <a:pt x="16412" y="16412"/>
                  </a:cubicBezTo>
                  <a:cubicBezTo>
                    <a:pt x="26920" y="5903"/>
                    <a:pt x="41172" y="0"/>
                    <a:pt x="56033" y="0"/>
                  </a:cubicBezTo>
                  <a:close/>
                </a:path>
              </a:pathLst>
            </a:custGeom>
            <a:solidFill>
              <a:srgbClr val="F48A6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85725"/>
              <a:ext cx="1382802" cy="8659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6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634136" y="5639217"/>
            <a:ext cx="5616083" cy="5153936"/>
          </a:xfrm>
          <a:custGeom>
            <a:avLst/>
            <a:gdLst/>
            <a:ahLst/>
            <a:cxnLst/>
            <a:rect l="l" t="t" r="r" b="b"/>
            <a:pathLst>
              <a:path w="5616083" h="5153936">
                <a:moveTo>
                  <a:pt x="0" y="0"/>
                </a:moveTo>
                <a:lnTo>
                  <a:pt x="5616083" y="0"/>
                </a:lnTo>
                <a:lnTo>
                  <a:pt x="5616083" y="5153936"/>
                </a:lnTo>
                <a:lnTo>
                  <a:pt x="0" y="51539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028700" y="4087050"/>
            <a:ext cx="5250328" cy="2962603"/>
            <a:chOff x="0" y="0"/>
            <a:chExt cx="1382802" cy="78027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82802" cy="780274"/>
            </a:xfrm>
            <a:custGeom>
              <a:avLst/>
              <a:gdLst/>
              <a:ahLst/>
              <a:cxnLst/>
              <a:rect l="l" t="t" r="r" b="b"/>
              <a:pathLst>
                <a:path w="1382802" h="780274">
                  <a:moveTo>
                    <a:pt x="56033" y="0"/>
                  </a:moveTo>
                  <a:lnTo>
                    <a:pt x="1326769" y="0"/>
                  </a:lnTo>
                  <a:cubicBezTo>
                    <a:pt x="1341630" y="0"/>
                    <a:pt x="1355882" y="5903"/>
                    <a:pt x="1366391" y="16412"/>
                  </a:cubicBezTo>
                  <a:cubicBezTo>
                    <a:pt x="1376899" y="26920"/>
                    <a:pt x="1382802" y="41172"/>
                    <a:pt x="1382802" y="56033"/>
                  </a:cubicBezTo>
                  <a:lnTo>
                    <a:pt x="1382802" y="724241"/>
                  </a:lnTo>
                  <a:cubicBezTo>
                    <a:pt x="1382802" y="739102"/>
                    <a:pt x="1376899" y="753354"/>
                    <a:pt x="1366391" y="763862"/>
                  </a:cubicBezTo>
                  <a:cubicBezTo>
                    <a:pt x="1355882" y="774371"/>
                    <a:pt x="1341630" y="780274"/>
                    <a:pt x="1326769" y="780274"/>
                  </a:cubicBezTo>
                  <a:lnTo>
                    <a:pt x="56033" y="780274"/>
                  </a:lnTo>
                  <a:cubicBezTo>
                    <a:pt x="25087" y="780274"/>
                    <a:pt x="0" y="755187"/>
                    <a:pt x="0" y="724241"/>
                  </a:cubicBezTo>
                  <a:lnTo>
                    <a:pt x="0" y="56033"/>
                  </a:lnTo>
                  <a:cubicBezTo>
                    <a:pt x="0" y="41172"/>
                    <a:pt x="5903" y="26920"/>
                    <a:pt x="16412" y="16412"/>
                  </a:cubicBezTo>
                  <a:cubicBezTo>
                    <a:pt x="26920" y="5903"/>
                    <a:pt x="41172" y="0"/>
                    <a:pt x="56033" y="0"/>
                  </a:cubicBezTo>
                  <a:close/>
                </a:path>
              </a:pathLst>
            </a:custGeom>
            <a:solidFill>
              <a:srgbClr val="F48A6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85725"/>
              <a:ext cx="1382802" cy="8659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61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 flipH="1">
            <a:off x="-1048014" y="5991483"/>
            <a:ext cx="5061204" cy="6172200"/>
          </a:xfrm>
          <a:custGeom>
            <a:avLst/>
            <a:gdLst/>
            <a:ahLst/>
            <a:cxnLst/>
            <a:rect l="l" t="t" r="r" b="b"/>
            <a:pathLst>
              <a:path w="5061204" h="6172200">
                <a:moveTo>
                  <a:pt x="5061204" y="0"/>
                </a:moveTo>
                <a:lnTo>
                  <a:pt x="0" y="0"/>
                </a:lnTo>
                <a:lnTo>
                  <a:pt x="0" y="6172200"/>
                </a:lnTo>
                <a:lnTo>
                  <a:pt x="5061204" y="6172200"/>
                </a:lnTo>
                <a:lnTo>
                  <a:pt x="506120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6518836" y="4087050"/>
            <a:ext cx="5250328" cy="2962603"/>
            <a:chOff x="0" y="0"/>
            <a:chExt cx="1382802" cy="78027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382802" cy="780274"/>
            </a:xfrm>
            <a:custGeom>
              <a:avLst/>
              <a:gdLst/>
              <a:ahLst/>
              <a:cxnLst/>
              <a:rect l="l" t="t" r="r" b="b"/>
              <a:pathLst>
                <a:path w="1382802" h="780274">
                  <a:moveTo>
                    <a:pt x="56033" y="0"/>
                  </a:moveTo>
                  <a:lnTo>
                    <a:pt x="1326769" y="0"/>
                  </a:lnTo>
                  <a:cubicBezTo>
                    <a:pt x="1341630" y="0"/>
                    <a:pt x="1355882" y="5903"/>
                    <a:pt x="1366391" y="16412"/>
                  </a:cubicBezTo>
                  <a:cubicBezTo>
                    <a:pt x="1376899" y="26920"/>
                    <a:pt x="1382802" y="41172"/>
                    <a:pt x="1382802" y="56033"/>
                  </a:cubicBezTo>
                  <a:lnTo>
                    <a:pt x="1382802" y="724241"/>
                  </a:lnTo>
                  <a:cubicBezTo>
                    <a:pt x="1382802" y="739102"/>
                    <a:pt x="1376899" y="753354"/>
                    <a:pt x="1366391" y="763862"/>
                  </a:cubicBezTo>
                  <a:cubicBezTo>
                    <a:pt x="1355882" y="774371"/>
                    <a:pt x="1341630" y="780274"/>
                    <a:pt x="1326769" y="780274"/>
                  </a:cubicBezTo>
                  <a:lnTo>
                    <a:pt x="56033" y="780274"/>
                  </a:lnTo>
                  <a:cubicBezTo>
                    <a:pt x="25087" y="780274"/>
                    <a:pt x="0" y="755187"/>
                    <a:pt x="0" y="724241"/>
                  </a:cubicBezTo>
                  <a:lnTo>
                    <a:pt x="0" y="56033"/>
                  </a:lnTo>
                  <a:cubicBezTo>
                    <a:pt x="0" y="41172"/>
                    <a:pt x="5903" y="26920"/>
                    <a:pt x="16412" y="16412"/>
                  </a:cubicBezTo>
                  <a:cubicBezTo>
                    <a:pt x="26920" y="5903"/>
                    <a:pt x="41172" y="0"/>
                    <a:pt x="56033" y="0"/>
                  </a:cubicBezTo>
                  <a:close/>
                </a:path>
              </a:pathLst>
            </a:custGeom>
            <a:solidFill>
              <a:srgbClr val="F48A6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1382802" cy="8659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61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3060643" y="6713375"/>
            <a:ext cx="3912683" cy="6724924"/>
          </a:xfrm>
          <a:custGeom>
            <a:avLst/>
            <a:gdLst/>
            <a:ahLst/>
            <a:cxnLst/>
            <a:rect l="l" t="t" r="r" b="b"/>
            <a:pathLst>
              <a:path w="3912683" h="6724924">
                <a:moveTo>
                  <a:pt x="0" y="0"/>
                </a:moveTo>
                <a:lnTo>
                  <a:pt x="3912683" y="0"/>
                </a:lnTo>
                <a:lnTo>
                  <a:pt x="3912683" y="6724924"/>
                </a:lnTo>
                <a:lnTo>
                  <a:pt x="0" y="67249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11156975" y="7354534"/>
            <a:ext cx="3558312" cy="3807532"/>
          </a:xfrm>
          <a:custGeom>
            <a:avLst/>
            <a:gdLst/>
            <a:ahLst/>
            <a:cxnLst/>
            <a:rect l="l" t="t" r="r" b="b"/>
            <a:pathLst>
              <a:path w="3558312" h="3807532">
                <a:moveTo>
                  <a:pt x="0" y="0"/>
                </a:moveTo>
                <a:lnTo>
                  <a:pt x="3558312" y="0"/>
                </a:lnTo>
                <a:lnTo>
                  <a:pt x="3558312" y="3807532"/>
                </a:lnTo>
                <a:lnTo>
                  <a:pt x="0" y="380753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1111905" y="1392716"/>
            <a:ext cx="16064190" cy="984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70"/>
              </a:lnSpc>
            </a:pPr>
            <a:r>
              <a:rPr lang="en-US" sz="8056">
                <a:solidFill>
                  <a:srgbClr val="F48A6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Solución propuesta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59750" y="2481579"/>
            <a:ext cx="16968501" cy="1137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34"/>
              </a:lnSpc>
            </a:pPr>
            <a:r>
              <a:rPr lang="en-US" sz="3155" b="1">
                <a:solidFill>
                  <a:srgbClr val="824737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TUTORIA PLUS es una plataforma web que conecta a estudiantes, tutores y coordinadores académicos para gestionar de manera eficiente las tutorías, facilitando: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23599" y="4865702"/>
            <a:ext cx="4460529" cy="173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5039">
                <a:solidFill>
                  <a:srgbClr val="FFFFF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Agend</a:t>
            </a:r>
            <a:r>
              <a:rPr lang="en-US" sz="5039" u="none" strike="noStrike">
                <a:solidFill>
                  <a:srgbClr val="FFFFF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amiento ágil de sesiones</a:t>
            </a:r>
          </a:p>
        </p:txBody>
      </p:sp>
      <p:sp>
        <p:nvSpPr>
          <p:cNvPr id="18" name="Freeform 18"/>
          <p:cNvSpPr/>
          <p:nvPr/>
        </p:nvSpPr>
        <p:spPr>
          <a:xfrm rot="1744881">
            <a:off x="-1228065" y="-1822523"/>
            <a:ext cx="3403484" cy="3599839"/>
          </a:xfrm>
          <a:custGeom>
            <a:avLst/>
            <a:gdLst/>
            <a:ahLst/>
            <a:cxnLst/>
            <a:rect l="l" t="t" r="r" b="b"/>
            <a:pathLst>
              <a:path w="3403484" h="3599839">
                <a:moveTo>
                  <a:pt x="0" y="0"/>
                </a:moveTo>
                <a:lnTo>
                  <a:pt x="3403484" y="0"/>
                </a:lnTo>
                <a:lnTo>
                  <a:pt x="3403484" y="3599839"/>
                </a:lnTo>
                <a:lnTo>
                  <a:pt x="0" y="359983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9" name="Freeform 19"/>
          <p:cNvSpPr/>
          <p:nvPr/>
        </p:nvSpPr>
        <p:spPr>
          <a:xfrm rot="-2131435">
            <a:off x="17366236" y="-33857"/>
            <a:ext cx="3403484" cy="3599839"/>
          </a:xfrm>
          <a:custGeom>
            <a:avLst/>
            <a:gdLst/>
            <a:ahLst/>
            <a:cxnLst/>
            <a:rect l="l" t="t" r="r" b="b"/>
            <a:pathLst>
              <a:path w="3403484" h="3599839">
                <a:moveTo>
                  <a:pt x="0" y="0"/>
                </a:moveTo>
                <a:lnTo>
                  <a:pt x="3403484" y="0"/>
                </a:lnTo>
                <a:lnTo>
                  <a:pt x="3403484" y="3599840"/>
                </a:lnTo>
                <a:lnTo>
                  <a:pt x="0" y="359984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/>
          <p:cNvSpPr/>
          <p:nvPr/>
        </p:nvSpPr>
        <p:spPr>
          <a:xfrm rot="1580465">
            <a:off x="7545185" y="-2745028"/>
            <a:ext cx="4463787" cy="4114800"/>
          </a:xfrm>
          <a:custGeom>
            <a:avLst/>
            <a:gdLst/>
            <a:ahLst/>
            <a:cxnLst/>
            <a:rect l="l" t="t" r="r" b="b"/>
            <a:pathLst>
              <a:path w="4463787" h="4114800">
                <a:moveTo>
                  <a:pt x="0" y="0"/>
                </a:moveTo>
                <a:lnTo>
                  <a:pt x="4463787" y="0"/>
                </a:lnTo>
                <a:lnTo>
                  <a:pt x="446378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/>
          <p:cNvSpPr txBox="1"/>
          <p:nvPr/>
        </p:nvSpPr>
        <p:spPr>
          <a:xfrm>
            <a:off x="7489728" y="4849446"/>
            <a:ext cx="3308545" cy="173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5039">
                <a:solidFill>
                  <a:srgbClr val="FFFFF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Registro de avances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402188" y="4778582"/>
            <a:ext cx="4460529" cy="173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5039">
                <a:solidFill>
                  <a:srgbClr val="FFFFF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Segui</a:t>
            </a:r>
            <a:r>
              <a:rPr lang="en-US" sz="5039" u="none" strike="noStrike">
                <a:solidFill>
                  <a:srgbClr val="FFFFF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miento y reportes académicos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8A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2184834"/>
            <a:ext cx="6753816" cy="2563752"/>
            <a:chOff x="0" y="0"/>
            <a:chExt cx="3886064" cy="3194462"/>
          </a:xfrm>
        </p:grpSpPr>
        <p:sp>
          <p:nvSpPr>
            <p:cNvPr id="3" name="Freeform 3"/>
            <p:cNvSpPr/>
            <p:nvPr/>
          </p:nvSpPr>
          <p:spPr>
            <a:xfrm>
              <a:off x="0" y="-1270"/>
              <a:ext cx="3887334" cy="3193192"/>
            </a:xfrm>
            <a:custGeom>
              <a:avLst/>
              <a:gdLst/>
              <a:ahLst/>
              <a:cxnLst/>
              <a:rect l="l" t="t" r="r" b="b"/>
              <a:pathLst>
                <a:path w="3887334" h="3193192">
                  <a:moveTo>
                    <a:pt x="3875904" y="27940"/>
                  </a:moveTo>
                  <a:cubicBezTo>
                    <a:pt x="3867014" y="24130"/>
                    <a:pt x="3858124" y="21590"/>
                    <a:pt x="3849234" y="21590"/>
                  </a:cubicBezTo>
                  <a:cubicBezTo>
                    <a:pt x="3822564" y="20320"/>
                    <a:pt x="3765134" y="20320"/>
                    <a:pt x="3701591" y="17780"/>
                  </a:cubicBezTo>
                  <a:cubicBezTo>
                    <a:pt x="3556350" y="12700"/>
                    <a:pt x="3414135" y="6350"/>
                    <a:pt x="3268893" y="3810"/>
                  </a:cubicBezTo>
                  <a:cubicBezTo>
                    <a:pt x="3150885" y="1270"/>
                    <a:pt x="3035903" y="3810"/>
                    <a:pt x="2917895" y="2540"/>
                  </a:cubicBezTo>
                  <a:cubicBezTo>
                    <a:pt x="2866455" y="2540"/>
                    <a:pt x="2815016" y="0"/>
                    <a:pt x="2763576" y="2540"/>
                  </a:cubicBezTo>
                  <a:cubicBezTo>
                    <a:pt x="2639516" y="10160"/>
                    <a:pt x="2515456" y="11430"/>
                    <a:pt x="2388370" y="8890"/>
                  </a:cubicBezTo>
                  <a:cubicBezTo>
                    <a:pt x="2324827" y="7620"/>
                    <a:pt x="2261285" y="7620"/>
                    <a:pt x="2197742" y="7620"/>
                  </a:cubicBezTo>
                  <a:cubicBezTo>
                    <a:pt x="2082759" y="7620"/>
                    <a:pt x="1967777" y="7620"/>
                    <a:pt x="1852795" y="6350"/>
                  </a:cubicBezTo>
                  <a:cubicBezTo>
                    <a:pt x="1731760" y="5080"/>
                    <a:pt x="539574" y="2540"/>
                    <a:pt x="421566" y="1270"/>
                  </a:cubicBezTo>
                  <a:cubicBezTo>
                    <a:pt x="324739" y="0"/>
                    <a:pt x="230937" y="1270"/>
                    <a:pt x="134110" y="1270"/>
                  </a:cubicBezTo>
                  <a:cubicBezTo>
                    <a:pt x="67541" y="1270"/>
                    <a:pt x="33020" y="3810"/>
                    <a:pt x="5080" y="5080"/>
                  </a:cubicBezTo>
                  <a:cubicBezTo>
                    <a:pt x="3810" y="5080"/>
                    <a:pt x="2540" y="7620"/>
                    <a:pt x="0" y="8890"/>
                  </a:cubicBezTo>
                  <a:cubicBezTo>
                    <a:pt x="1270" y="21590"/>
                    <a:pt x="3810" y="34290"/>
                    <a:pt x="5080" y="46990"/>
                  </a:cubicBezTo>
                  <a:cubicBezTo>
                    <a:pt x="15240" y="167218"/>
                    <a:pt x="16510" y="307693"/>
                    <a:pt x="17780" y="445703"/>
                  </a:cubicBezTo>
                  <a:cubicBezTo>
                    <a:pt x="19050" y="586177"/>
                    <a:pt x="17780" y="726652"/>
                    <a:pt x="16510" y="869591"/>
                  </a:cubicBezTo>
                  <a:cubicBezTo>
                    <a:pt x="15240" y="1014995"/>
                    <a:pt x="2540" y="2540500"/>
                    <a:pt x="2540" y="2685903"/>
                  </a:cubicBezTo>
                  <a:cubicBezTo>
                    <a:pt x="2540" y="2828842"/>
                    <a:pt x="1270" y="2971782"/>
                    <a:pt x="0" y="3114721"/>
                  </a:cubicBezTo>
                  <a:cubicBezTo>
                    <a:pt x="0" y="3138582"/>
                    <a:pt x="3810" y="3148742"/>
                    <a:pt x="15240" y="3153822"/>
                  </a:cubicBezTo>
                  <a:cubicBezTo>
                    <a:pt x="22860" y="3157632"/>
                    <a:pt x="31750" y="3160172"/>
                    <a:pt x="40640" y="3161442"/>
                  </a:cubicBezTo>
                  <a:cubicBezTo>
                    <a:pt x="131084" y="3166522"/>
                    <a:pt x="246067" y="3170332"/>
                    <a:pt x="361049" y="3175412"/>
                  </a:cubicBezTo>
                  <a:cubicBezTo>
                    <a:pt x="424592" y="3177952"/>
                    <a:pt x="488135" y="3183032"/>
                    <a:pt x="551678" y="3184302"/>
                  </a:cubicBezTo>
                  <a:cubicBezTo>
                    <a:pt x="657583" y="3186842"/>
                    <a:pt x="1837665" y="3188112"/>
                    <a:pt x="1943570" y="3189382"/>
                  </a:cubicBezTo>
                  <a:cubicBezTo>
                    <a:pt x="1958699" y="3189382"/>
                    <a:pt x="1973829" y="3189382"/>
                    <a:pt x="1988958" y="3189382"/>
                  </a:cubicBezTo>
                  <a:cubicBezTo>
                    <a:pt x="2061578" y="3189382"/>
                    <a:pt x="2137225" y="3188112"/>
                    <a:pt x="2209845" y="3188112"/>
                  </a:cubicBezTo>
                  <a:cubicBezTo>
                    <a:pt x="2294569" y="3188112"/>
                    <a:pt x="2376267" y="3189382"/>
                    <a:pt x="2460991" y="3189382"/>
                  </a:cubicBezTo>
                  <a:cubicBezTo>
                    <a:pt x="2585051" y="3189382"/>
                    <a:pt x="2712137" y="3189382"/>
                    <a:pt x="2836197" y="3189382"/>
                  </a:cubicBezTo>
                  <a:cubicBezTo>
                    <a:pt x="2951179" y="3189382"/>
                    <a:pt x="3066161" y="3190652"/>
                    <a:pt x="3181144" y="3191922"/>
                  </a:cubicBezTo>
                  <a:cubicBezTo>
                    <a:pt x="3232583" y="3191922"/>
                    <a:pt x="3287049" y="3193192"/>
                    <a:pt x="3338488" y="3193192"/>
                  </a:cubicBezTo>
                  <a:cubicBezTo>
                    <a:pt x="3504910" y="3191922"/>
                    <a:pt x="3668306" y="3185572"/>
                    <a:pt x="3826374" y="3185572"/>
                  </a:cubicBezTo>
                  <a:cubicBezTo>
                    <a:pt x="3830184" y="3185572"/>
                    <a:pt x="3835264" y="3183032"/>
                    <a:pt x="3839074" y="3180492"/>
                  </a:cubicBezTo>
                  <a:cubicBezTo>
                    <a:pt x="3844154" y="3176682"/>
                    <a:pt x="3846694" y="3170332"/>
                    <a:pt x="3849234" y="3167792"/>
                  </a:cubicBezTo>
                  <a:cubicBezTo>
                    <a:pt x="3850504" y="3097469"/>
                    <a:pt x="3851774" y="2993962"/>
                    <a:pt x="3853044" y="2890454"/>
                  </a:cubicBezTo>
                  <a:cubicBezTo>
                    <a:pt x="3854314" y="2730264"/>
                    <a:pt x="3864474" y="1192436"/>
                    <a:pt x="3865744" y="1032246"/>
                  </a:cubicBezTo>
                  <a:cubicBezTo>
                    <a:pt x="3865744" y="936132"/>
                    <a:pt x="3867014" y="840017"/>
                    <a:pt x="3868284" y="743903"/>
                  </a:cubicBezTo>
                  <a:cubicBezTo>
                    <a:pt x="3869554" y="640395"/>
                    <a:pt x="3870824" y="536888"/>
                    <a:pt x="3873364" y="433380"/>
                  </a:cubicBezTo>
                  <a:cubicBezTo>
                    <a:pt x="3874634" y="371769"/>
                    <a:pt x="3874634" y="307692"/>
                    <a:pt x="3879714" y="246081"/>
                  </a:cubicBezTo>
                  <a:cubicBezTo>
                    <a:pt x="3884794" y="172147"/>
                    <a:pt x="3887334" y="100677"/>
                    <a:pt x="3886064" y="44450"/>
                  </a:cubicBezTo>
                  <a:cubicBezTo>
                    <a:pt x="3886064" y="38100"/>
                    <a:pt x="3882254" y="30480"/>
                    <a:pt x="3875904" y="27940"/>
                  </a:cubicBezTo>
                  <a:close/>
                </a:path>
              </a:pathLst>
            </a:custGeom>
            <a:solidFill>
              <a:srgbClr val="FFF6EB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5367275"/>
            <a:ext cx="6753817" cy="2563752"/>
            <a:chOff x="0" y="0"/>
            <a:chExt cx="3886064" cy="3194462"/>
          </a:xfrm>
        </p:grpSpPr>
        <p:sp>
          <p:nvSpPr>
            <p:cNvPr id="9" name="Freeform 9"/>
            <p:cNvSpPr/>
            <p:nvPr/>
          </p:nvSpPr>
          <p:spPr>
            <a:xfrm>
              <a:off x="0" y="-1270"/>
              <a:ext cx="3887334" cy="3193192"/>
            </a:xfrm>
            <a:custGeom>
              <a:avLst/>
              <a:gdLst/>
              <a:ahLst/>
              <a:cxnLst/>
              <a:rect l="l" t="t" r="r" b="b"/>
              <a:pathLst>
                <a:path w="3887334" h="3193192">
                  <a:moveTo>
                    <a:pt x="3875904" y="27940"/>
                  </a:moveTo>
                  <a:cubicBezTo>
                    <a:pt x="3867014" y="24130"/>
                    <a:pt x="3858124" y="21590"/>
                    <a:pt x="3849234" y="21590"/>
                  </a:cubicBezTo>
                  <a:cubicBezTo>
                    <a:pt x="3822564" y="20320"/>
                    <a:pt x="3765134" y="20320"/>
                    <a:pt x="3701591" y="17780"/>
                  </a:cubicBezTo>
                  <a:cubicBezTo>
                    <a:pt x="3556350" y="12700"/>
                    <a:pt x="3414135" y="6350"/>
                    <a:pt x="3268893" y="3810"/>
                  </a:cubicBezTo>
                  <a:cubicBezTo>
                    <a:pt x="3150885" y="1270"/>
                    <a:pt x="3035903" y="3810"/>
                    <a:pt x="2917895" y="2540"/>
                  </a:cubicBezTo>
                  <a:cubicBezTo>
                    <a:pt x="2866455" y="2540"/>
                    <a:pt x="2815016" y="0"/>
                    <a:pt x="2763576" y="2540"/>
                  </a:cubicBezTo>
                  <a:cubicBezTo>
                    <a:pt x="2639516" y="10160"/>
                    <a:pt x="2515456" y="11430"/>
                    <a:pt x="2388370" y="8890"/>
                  </a:cubicBezTo>
                  <a:cubicBezTo>
                    <a:pt x="2324827" y="7620"/>
                    <a:pt x="2261285" y="7620"/>
                    <a:pt x="2197742" y="7620"/>
                  </a:cubicBezTo>
                  <a:cubicBezTo>
                    <a:pt x="2082759" y="7620"/>
                    <a:pt x="1967777" y="7620"/>
                    <a:pt x="1852795" y="6350"/>
                  </a:cubicBezTo>
                  <a:cubicBezTo>
                    <a:pt x="1731760" y="5080"/>
                    <a:pt x="539574" y="2540"/>
                    <a:pt x="421566" y="1270"/>
                  </a:cubicBezTo>
                  <a:cubicBezTo>
                    <a:pt x="324739" y="0"/>
                    <a:pt x="230937" y="1270"/>
                    <a:pt x="134110" y="1270"/>
                  </a:cubicBezTo>
                  <a:cubicBezTo>
                    <a:pt x="67541" y="1270"/>
                    <a:pt x="33020" y="3810"/>
                    <a:pt x="5080" y="5080"/>
                  </a:cubicBezTo>
                  <a:cubicBezTo>
                    <a:pt x="3810" y="5080"/>
                    <a:pt x="2540" y="7620"/>
                    <a:pt x="0" y="8890"/>
                  </a:cubicBezTo>
                  <a:cubicBezTo>
                    <a:pt x="1270" y="21590"/>
                    <a:pt x="3810" y="34290"/>
                    <a:pt x="5080" y="46990"/>
                  </a:cubicBezTo>
                  <a:cubicBezTo>
                    <a:pt x="15240" y="167218"/>
                    <a:pt x="16510" y="307693"/>
                    <a:pt x="17780" y="445703"/>
                  </a:cubicBezTo>
                  <a:cubicBezTo>
                    <a:pt x="19050" y="586177"/>
                    <a:pt x="17780" y="726652"/>
                    <a:pt x="16510" y="869591"/>
                  </a:cubicBezTo>
                  <a:cubicBezTo>
                    <a:pt x="15240" y="1014995"/>
                    <a:pt x="2540" y="2540500"/>
                    <a:pt x="2540" y="2685903"/>
                  </a:cubicBezTo>
                  <a:cubicBezTo>
                    <a:pt x="2540" y="2828842"/>
                    <a:pt x="1270" y="2971782"/>
                    <a:pt x="0" y="3114721"/>
                  </a:cubicBezTo>
                  <a:cubicBezTo>
                    <a:pt x="0" y="3138582"/>
                    <a:pt x="3810" y="3148742"/>
                    <a:pt x="15240" y="3153822"/>
                  </a:cubicBezTo>
                  <a:cubicBezTo>
                    <a:pt x="22860" y="3157632"/>
                    <a:pt x="31750" y="3160172"/>
                    <a:pt x="40640" y="3161442"/>
                  </a:cubicBezTo>
                  <a:cubicBezTo>
                    <a:pt x="131084" y="3166522"/>
                    <a:pt x="246067" y="3170332"/>
                    <a:pt x="361049" y="3175412"/>
                  </a:cubicBezTo>
                  <a:cubicBezTo>
                    <a:pt x="424592" y="3177952"/>
                    <a:pt x="488135" y="3183032"/>
                    <a:pt x="551678" y="3184302"/>
                  </a:cubicBezTo>
                  <a:cubicBezTo>
                    <a:pt x="657583" y="3186842"/>
                    <a:pt x="1837665" y="3188112"/>
                    <a:pt x="1943570" y="3189382"/>
                  </a:cubicBezTo>
                  <a:cubicBezTo>
                    <a:pt x="1958699" y="3189382"/>
                    <a:pt x="1973829" y="3189382"/>
                    <a:pt x="1988958" y="3189382"/>
                  </a:cubicBezTo>
                  <a:cubicBezTo>
                    <a:pt x="2061578" y="3189382"/>
                    <a:pt x="2137225" y="3188112"/>
                    <a:pt x="2209845" y="3188112"/>
                  </a:cubicBezTo>
                  <a:cubicBezTo>
                    <a:pt x="2294569" y="3188112"/>
                    <a:pt x="2376267" y="3189382"/>
                    <a:pt x="2460991" y="3189382"/>
                  </a:cubicBezTo>
                  <a:cubicBezTo>
                    <a:pt x="2585051" y="3189382"/>
                    <a:pt x="2712137" y="3189382"/>
                    <a:pt x="2836197" y="3189382"/>
                  </a:cubicBezTo>
                  <a:cubicBezTo>
                    <a:pt x="2951179" y="3189382"/>
                    <a:pt x="3066161" y="3190652"/>
                    <a:pt x="3181144" y="3191922"/>
                  </a:cubicBezTo>
                  <a:cubicBezTo>
                    <a:pt x="3232583" y="3191922"/>
                    <a:pt x="3287049" y="3193192"/>
                    <a:pt x="3338488" y="3193192"/>
                  </a:cubicBezTo>
                  <a:cubicBezTo>
                    <a:pt x="3504910" y="3191922"/>
                    <a:pt x="3668306" y="3185572"/>
                    <a:pt x="3826374" y="3185572"/>
                  </a:cubicBezTo>
                  <a:cubicBezTo>
                    <a:pt x="3830184" y="3185572"/>
                    <a:pt x="3835264" y="3183032"/>
                    <a:pt x="3839074" y="3180492"/>
                  </a:cubicBezTo>
                  <a:cubicBezTo>
                    <a:pt x="3844154" y="3176682"/>
                    <a:pt x="3846694" y="3170332"/>
                    <a:pt x="3849234" y="3167792"/>
                  </a:cubicBezTo>
                  <a:cubicBezTo>
                    <a:pt x="3850504" y="3097469"/>
                    <a:pt x="3851774" y="2993962"/>
                    <a:pt x="3853044" y="2890454"/>
                  </a:cubicBezTo>
                  <a:cubicBezTo>
                    <a:pt x="3854314" y="2730264"/>
                    <a:pt x="3864474" y="1192436"/>
                    <a:pt x="3865744" y="1032246"/>
                  </a:cubicBezTo>
                  <a:cubicBezTo>
                    <a:pt x="3865744" y="936132"/>
                    <a:pt x="3867014" y="840017"/>
                    <a:pt x="3868284" y="743903"/>
                  </a:cubicBezTo>
                  <a:cubicBezTo>
                    <a:pt x="3869554" y="640395"/>
                    <a:pt x="3870824" y="536888"/>
                    <a:pt x="3873364" y="433380"/>
                  </a:cubicBezTo>
                  <a:cubicBezTo>
                    <a:pt x="3874634" y="371769"/>
                    <a:pt x="3874634" y="307692"/>
                    <a:pt x="3879714" y="246081"/>
                  </a:cubicBezTo>
                  <a:cubicBezTo>
                    <a:pt x="3884794" y="172147"/>
                    <a:pt x="3887334" y="100677"/>
                    <a:pt x="3886064" y="44450"/>
                  </a:cubicBezTo>
                  <a:cubicBezTo>
                    <a:pt x="3886064" y="38100"/>
                    <a:pt x="3882254" y="30480"/>
                    <a:pt x="3875904" y="27940"/>
                  </a:cubicBezTo>
                  <a:close/>
                </a:path>
              </a:pathLst>
            </a:custGeom>
            <a:solidFill>
              <a:srgbClr val="FFF6EB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Freeform 10"/>
          <p:cNvSpPr/>
          <p:nvPr/>
        </p:nvSpPr>
        <p:spPr>
          <a:xfrm>
            <a:off x="13084210" y="1221995"/>
            <a:ext cx="4128442" cy="2371978"/>
          </a:xfrm>
          <a:custGeom>
            <a:avLst/>
            <a:gdLst/>
            <a:ahLst/>
            <a:cxnLst/>
            <a:rect l="l" t="t" r="r" b="b"/>
            <a:pathLst>
              <a:path w="4128442" h="2371978">
                <a:moveTo>
                  <a:pt x="0" y="0"/>
                </a:moveTo>
                <a:lnTo>
                  <a:pt x="4128442" y="0"/>
                </a:lnTo>
                <a:lnTo>
                  <a:pt x="4128442" y="2371978"/>
                </a:lnTo>
                <a:lnTo>
                  <a:pt x="0" y="23719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11286069" y="7406074"/>
            <a:ext cx="7315200" cy="3218688"/>
          </a:xfrm>
          <a:custGeom>
            <a:avLst/>
            <a:gdLst/>
            <a:ahLst/>
            <a:cxnLst/>
            <a:rect l="l" t="t" r="r" b="b"/>
            <a:pathLst>
              <a:path w="7315200" h="3218688">
                <a:moveTo>
                  <a:pt x="0" y="0"/>
                </a:moveTo>
                <a:lnTo>
                  <a:pt x="7315200" y="0"/>
                </a:lnTo>
                <a:lnTo>
                  <a:pt x="7315200" y="3218688"/>
                </a:lnTo>
                <a:lnTo>
                  <a:pt x="0" y="32186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 rot="1744881">
            <a:off x="8638982" y="-1313098"/>
            <a:ext cx="3352272" cy="3545673"/>
          </a:xfrm>
          <a:custGeom>
            <a:avLst/>
            <a:gdLst/>
            <a:ahLst/>
            <a:cxnLst/>
            <a:rect l="l" t="t" r="r" b="b"/>
            <a:pathLst>
              <a:path w="3352272" h="3545673">
                <a:moveTo>
                  <a:pt x="0" y="0"/>
                </a:moveTo>
                <a:lnTo>
                  <a:pt x="3352273" y="0"/>
                </a:lnTo>
                <a:lnTo>
                  <a:pt x="3352273" y="3545673"/>
                </a:lnTo>
                <a:lnTo>
                  <a:pt x="0" y="354567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 rot="-1021006">
            <a:off x="-1006923" y="7500051"/>
            <a:ext cx="2921891" cy="3516498"/>
          </a:xfrm>
          <a:custGeom>
            <a:avLst/>
            <a:gdLst/>
            <a:ahLst/>
            <a:cxnLst/>
            <a:rect l="l" t="t" r="r" b="b"/>
            <a:pathLst>
              <a:path w="2921891" h="3516498">
                <a:moveTo>
                  <a:pt x="0" y="0"/>
                </a:moveTo>
                <a:lnTo>
                  <a:pt x="2921890" y="0"/>
                </a:lnTo>
                <a:lnTo>
                  <a:pt x="2921890" y="3516498"/>
                </a:lnTo>
                <a:lnTo>
                  <a:pt x="0" y="351649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-628350" y="-2444316"/>
            <a:ext cx="4463787" cy="4114800"/>
          </a:xfrm>
          <a:custGeom>
            <a:avLst/>
            <a:gdLst/>
            <a:ahLst/>
            <a:cxnLst/>
            <a:rect l="l" t="t" r="r" b="b"/>
            <a:pathLst>
              <a:path w="4463787" h="4114800">
                <a:moveTo>
                  <a:pt x="0" y="0"/>
                </a:moveTo>
                <a:lnTo>
                  <a:pt x="4463787" y="0"/>
                </a:lnTo>
                <a:lnTo>
                  <a:pt x="446378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8725311" y="3832098"/>
            <a:ext cx="8717798" cy="1975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56"/>
              </a:lnSpc>
            </a:pPr>
            <a:r>
              <a:rPr lang="en-US" sz="8378">
                <a:solidFill>
                  <a:srgbClr val="FFFFF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OBJETIVOS DEL PROYECTO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725311" y="5844121"/>
            <a:ext cx="8717798" cy="1502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807"/>
              </a:lnSpc>
            </a:pPr>
            <a:r>
              <a:rPr lang="en-US" sz="2906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Objetivo General:</a:t>
            </a:r>
          </a:p>
          <a:p>
            <a:pPr algn="just">
              <a:lnSpc>
                <a:spcPts val="3807"/>
              </a:lnSpc>
            </a:pPr>
            <a:r>
              <a:rPr lang="en-US" sz="2906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Diseñar e implementar una plataforma escalable que mejore el proceso de tutorías académicas.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488842" y="2853029"/>
            <a:ext cx="5718832" cy="12938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61"/>
              </a:lnSpc>
            </a:pPr>
            <a:r>
              <a:rPr lang="es-CO" sz="4800" b="1" noProof="0" dirty="0">
                <a:solidFill>
                  <a:srgbClr val="69372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Automatizar el agendamiento de tutorías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828800" y="6052689"/>
            <a:ext cx="5378874" cy="12938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61"/>
              </a:lnSpc>
            </a:pPr>
            <a:r>
              <a:rPr lang="es-CO" sz="4800" b="1" noProof="0" dirty="0">
                <a:solidFill>
                  <a:srgbClr val="69372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Diseñar una interfaz intuitiva y segura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8700" y="1462434"/>
            <a:ext cx="6753816" cy="530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07"/>
              </a:lnSpc>
            </a:pPr>
            <a:r>
              <a:rPr lang="en-US" sz="4278">
                <a:solidFill>
                  <a:srgbClr val="FFFFF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OBJETIVOS ESPECÍFICOS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5143500"/>
            <a:ext cx="3697105" cy="1815464"/>
            <a:chOff x="0" y="0"/>
            <a:chExt cx="973723" cy="4781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73723" cy="478147"/>
            </a:xfrm>
            <a:custGeom>
              <a:avLst/>
              <a:gdLst/>
              <a:ahLst/>
              <a:cxnLst/>
              <a:rect l="l" t="t" r="r" b="b"/>
              <a:pathLst>
                <a:path w="973723" h="478147">
                  <a:moveTo>
                    <a:pt x="79574" y="0"/>
                  </a:moveTo>
                  <a:lnTo>
                    <a:pt x="894149" y="0"/>
                  </a:lnTo>
                  <a:cubicBezTo>
                    <a:pt x="938097" y="0"/>
                    <a:pt x="973723" y="35626"/>
                    <a:pt x="973723" y="79574"/>
                  </a:cubicBezTo>
                  <a:lnTo>
                    <a:pt x="973723" y="398573"/>
                  </a:lnTo>
                  <a:cubicBezTo>
                    <a:pt x="973723" y="442521"/>
                    <a:pt x="938097" y="478147"/>
                    <a:pt x="894149" y="478147"/>
                  </a:cubicBezTo>
                  <a:lnTo>
                    <a:pt x="79574" y="478147"/>
                  </a:lnTo>
                  <a:cubicBezTo>
                    <a:pt x="35626" y="478147"/>
                    <a:pt x="0" y="442521"/>
                    <a:pt x="0" y="398573"/>
                  </a:cubicBezTo>
                  <a:lnTo>
                    <a:pt x="0" y="79574"/>
                  </a:lnTo>
                  <a:cubicBezTo>
                    <a:pt x="0" y="35626"/>
                    <a:pt x="35626" y="0"/>
                    <a:pt x="79574" y="0"/>
                  </a:cubicBezTo>
                  <a:close/>
                </a:path>
              </a:pathLst>
            </a:custGeom>
            <a:solidFill>
              <a:srgbClr val="F48A6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85725"/>
              <a:ext cx="973723" cy="5638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6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1450204" y="5029390"/>
            <a:ext cx="8888506" cy="5688644"/>
          </a:xfrm>
          <a:custGeom>
            <a:avLst/>
            <a:gdLst/>
            <a:ahLst/>
            <a:cxnLst/>
            <a:rect l="l" t="t" r="r" b="b"/>
            <a:pathLst>
              <a:path w="8888506" h="5688644">
                <a:moveTo>
                  <a:pt x="0" y="0"/>
                </a:moveTo>
                <a:lnTo>
                  <a:pt x="8888505" y="0"/>
                </a:lnTo>
                <a:lnTo>
                  <a:pt x="8888505" y="5688644"/>
                </a:lnTo>
                <a:lnTo>
                  <a:pt x="0" y="56886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 rot="-789085">
            <a:off x="13133718" y="1359358"/>
            <a:ext cx="3347837" cy="3828088"/>
          </a:xfrm>
          <a:custGeom>
            <a:avLst/>
            <a:gdLst/>
            <a:ahLst/>
            <a:cxnLst/>
            <a:rect l="l" t="t" r="r" b="b"/>
            <a:pathLst>
              <a:path w="3347837" h="3828088">
                <a:moveTo>
                  <a:pt x="0" y="0"/>
                </a:moveTo>
                <a:lnTo>
                  <a:pt x="3347837" y="0"/>
                </a:lnTo>
                <a:lnTo>
                  <a:pt x="3347837" y="3828088"/>
                </a:lnTo>
                <a:lnTo>
                  <a:pt x="0" y="382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1028700" y="1899017"/>
            <a:ext cx="11195668" cy="24877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09"/>
              </a:lnSpc>
            </a:pPr>
            <a:r>
              <a:rPr lang="en-US" sz="10572">
                <a:solidFill>
                  <a:srgbClr val="F48A6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METODOLOGÍA APLICADA</a:t>
            </a:r>
          </a:p>
        </p:txBody>
      </p:sp>
      <p:sp>
        <p:nvSpPr>
          <p:cNvPr id="8" name="Freeform 8"/>
          <p:cNvSpPr/>
          <p:nvPr/>
        </p:nvSpPr>
        <p:spPr>
          <a:xfrm>
            <a:off x="9992475" y="-2520583"/>
            <a:ext cx="4463787" cy="4114800"/>
          </a:xfrm>
          <a:custGeom>
            <a:avLst/>
            <a:gdLst/>
            <a:ahLst/>
            <a:cxnLst/>
            <a:rect l="l" t="t" r="r" b="b"/>
            <a:pathLst>
              <a:path w="4463787" h="4114800">
                <a:moveTo>
                  <a:pt x="0" y="0"/>
                </a:moveTo>
                <a:lnTo>
                  <a:pt x="4463787" y="0"/>
                </a:lnTo>
                <a:lnTo>
                  <a:pt x="446378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9" name="Group 9"/>
          <p:cNvGrpSpPr/>
          <p:nvPr/>
        </p:nvGrpSpPr>
        <p:grpSpPr>
          <a:xfrm>
            <a:off x="1028700" y="7443328"/>
            <a:ext cx="3697105" cy="1815464"/>
            <a:chOff x="0" y="0"/>
            <a:chExt cx="973723" cy="47814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73723" cy="478147"/>
            </a:xfrm>
            <a:custGeom>
              <a:avLst/>
              <a:gdLst/>
              <a:ahLst/>
              <a:cxnLst/>
              <a:rect l="l" t="t" r="r" b="b"/>
              <a:pathLst>
                <a:path w="973723" h="478147">
                  <a:moveTo>
                    <a:pt x="79574" y="0"/>
                  </a:moveTo>
                  <a:lnTo>
                    <a:pt x="894149" y="0"/>
                  </a:lnTo>
                  <a:cubicBezTo>
                    <a:pt x="938097" y="0"/>
                    <a:pt x="973723" y="35626"/>
                    <a:pt x="973723" y="79574"/>
                  </a:cubicBezTo>
                  <a:lnTo>
                    <a:pt x="973723" y="398573"/>
                  </a:lnTo>
                  <a:cubicBezTo>
                    <a:pt x="973723" y="442521"/>
                    <a:pt x="938097" y="478147"/>
                    <a:pt x="894149" y="478147"/>
                  </a:cubicBezTo>
                  <a:lnTo>
                    <a:pt x="79574" y="478147"/>
                  </a:lnTo>
                  <a:cubicBezTo>
                    <a:pt x="35626" y="478147"/>
                    <a:pt x="0" y="442521"/>
                    <a:pt x="0" y="398573"/>
                  </a:cubicBezTo>
                  <a:lnTo>
                    <a:pt x="0" y="79574"/>
                  </a:lnTo>
                  <a:cubicBezTo>
                    <a:pt x="0" y="35626"/>
                    <a:pt x="35626" y="0"/>
                    <a:pt x="79574" y="0"/>
                  </a:cubicBezTo>
                  <a:close/>
                </a:path>
              </a:pathLst>
            </a:custGeom>
            <a:solidFill>
              <a:srgbClr val="F48A6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85725"/>
              <a:ext cx="973723" cy="5638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61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542934" y="7549514"/>
            <a:ext cx="2611372" cy="1443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02"/>
              </a:lnSpc>
            </a:pPr>
            <a:r>
              <a:rPr lang="en-US" sz="407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Modelado UML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5335405" y="5143500"/>
            <a:ext cx="5672500" cy="1815464"/>
            <a:chOff x="0" y="0"/>
            <a:chExt cx="1493992" cy="478147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93992" cy="478147"/>
            </a:xfrm>
            <a:custGeom>
              <a:avLst/>
              <a:gdLst/>
              <a:ahLst/>
              <a:cxnLst/>
              <a:rect l="l" t="t" r="r" b="b"/>
              <a:pathLst>
                <a:path w="1493992" h="478147">
                  <a:moveTo>
                    <a:pt x="51863" y="0"/>
                  </a:moveTo>
                  <a:lnTo>
                    <a:pt x="1442129" y="0"/>
                  </a:lnTo>
                  <a:cubicBezTo>
                    <a:pt x="1455884" y="0"/>
                    <a:pt x="1469075" y="5464"/>
                    <a:pt x="1478801" y="15190"/>
                  </a:cubicBezTo>
                  <a:cubicBezTo>
                    <a:pt x="1488528" y="24917"/>
                    <a:pt x="1493992" y="38108"/>
                    <a:pt x="1493992" y="51863"/>
                  </a:cubicBezTo>
                  <a:lnTo>
                    <a:pt x="1493992" y="426284"/>
                  </a:lnTo>
                  <a:cubicBezTo>
                    <a:pt x="1493992" y="440039"/>
                    <a:pt x="1488528" y="453230"/>
                    <a:pt x="1478801" y="462957"/>
                  </a:cubicBezTo>
                  <a:cubicBezTo>
                    <a:pt x="1469075" y="472683"/>
                    <a:pt x="1455884" y="478147"/>
                    <a:pt x="1442129" y="478147"/>
                  </a:cubicBezTo>
                  <a:lnTo>
                    <a:pt x="51863" y="478147"/>
                  </a:lnTo>
                  <a:cubicBezTo>
                    <a:pt x="38108" y="478147"/>
                    <a:pt x="24917" y="472683"/>
                    <a:pt x="15190" y="462957"/>
                  </a:cubicBezTo>
                  <a:cubicBezTo>
                    <a:pt x="5464" y="453230"/>
                    <a:pt x="0" y="440039"/>
                    <a:pt x="0" y="426284"/>
                  </a:cubicBezTo>
                  <a:lnTo>
                    <a:pt x="0" y="51863"/>
                  </a:lnTo>
                  <a:cubicBezTo>
                    <a:pt x="0" y="38108"/>
                    <a:pt x="5464" y="24917"/>
                    <a:pt x="15190" y="15190"/>
                  </a:cubicBezTo>
                  <a:cubicBezTo>
                    <a:pt x="24917" y="5464"/>
                    <a:pt x="38108" y="0"/>
                    <a:pt x="51863" y="0"/>
                  </a:cubicBezTo>
                  <a:close/>
                </a:path>
              </a:pathLst>
            </a:custGeom>
            <a:solidFill>
              <a:srgbClr val="F48A6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85725"/>
              <a:ext cx="1493992" cy="5638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61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5559843" y="5247967"/>
            <a:ext cx="5276275" cy="1443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02"/>
              </a:lnSpc>
            </a:pPr>
            <a:r>
              <a:rPr lang="en-US" sz="407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Modelo incremental de desarrollo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5335405" y="7442836"/>
            <a:ext cx="5672500" cy="1815464"/>
            <a:chOff x="0" y="0"/>
            <a:chExt cx="1493992" cy="47814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493992" cy="478147"/>
            </a:xfrm>
            <a:custGeom>
              <a:avLst/>
              <a:gdLst/>
              <a:ahLst/>
              <a:cxnLst/>
              <a:rect l="l" t="t" r="r" b="b"/>
              <a:pathLst>
                <a:path w="1493992" h="478147">
                  <a:moveTo>
                    <a:pt x="51863" y="0"/>
                  </a:moveTo>
                  <a:lnTo>
                    <a:pt x="1442129" y="0"/>
                  </a:lnTo>
                  <a:cubicBezTo>
                    <a:pt x="1455884" y="0"/>
                    <a:pt x="1469075" y="5464"/>
                    <a:pt x="1478801" y="15190"/>
                  </a:cubicBezTo>
                  <a:cubicBezTo>
                    <a:pt x="1488528" y="24917"/>
                    <a:pt x="1493992" y="38108"/>
                    <a:pt x="1493992" y="51863"/>
                  </a:cubicBezTo>
                  <a:lnTo>
                    <a:pt x="1493992" y="426284"/>
                  </a:lnTo>
                  <a:cubicBezTo>
                    <a:pt x="1493992" y="440039"/>
                    <a:pt x="1488528" y="453230"/>
                    <a:pt x="1478801" y="462957"/>
                  </a:cubicBezTo>
                  <a:cubicBezTo>
                    <a:pt x="1469075" y="472683"/>
                    <a:pt x="1455884" y="478147"/>
                    <a:pt x="1442129" y="478147"/>
                  </a:cubicBezTo>
                  <a:lnTo>
                    <a:pt x="51863" y="478147"/>
                  </a:lnTo>
                  <a:cubicBezTo>
                    <a:pt x="38108" y="478147"/>
                    <a:pt x="24917" y="472683"/>
                    <a:pt x="15190" y="462957"/>
                  </a:cubicBezTo>
                  <a:cubicBezTo>
                    <a:pt x="5464" y="453230"/>
                    <a:pt x="0" y="440039"/>
                    <a:pt x="0" y="426284"/>
                  </a:cubicBezTo>
                  <a:lnTo>
                    <a:pt x="0" y="51863"/>
                  </a:lnTo>
                  <a:cubicBezTo>
                    <a:pt x="0" y="38108"/>
                    <a:pt x="5464" y="24917"/>
                    <a:pt x="15190" y="15190"/>
                  </a:cubicBezTo>
                  <a:cubicBezTo>
                    <a:pt x="24917" y="5464"/>
                    <a:pt x="38108" y="0"/>
                    <a:pt x="51863" y="0"/>
                  </a:cubicBezTo>
                  <a:close/>
                </a:path>
              </a:pathLst>
            </a:custGeom>
            <a:solidFill>
              <a:srgbClr val="F48A6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85725"/>
              <a:ext cx="1493992" cy="5638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61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409885" y="5248459"/>
            <a:ext cx="2934735" cy="1443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02"/>
              </a:lnSpc>
            </a:pPr>
            <a:r>
              <a:rPr lang="en-US" sz="4079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Priorización MoSCoW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127013" y="7882153"/>
            <a:ext cx="4141936" cy="7768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302"/>
              </a:lnSpc>
              <a:spcBef>
                <a:spcPct val="0"/>
              </a:spcBef>
            </a:pPr>
            <a:r>
              <a:rPr lang="en-US" sz="4079" u="none" strike="noStrike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Design Thinking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616999" y="5364670"/>
            <a:ext cx="6631982" cy="5269411"/>
          </a:xfrm>
          <a:custGeom>
            <a:avLst/>
            <a:gdLst/>
            <a:ahLst/>
            <a:cxnLst/>
            <a:rect l="l" t="t" r="r" b="b"/>
            <a:pathLst>
              <a:path w="6631982" h="5269411">
                <a:moveTo>
                  <a:pt x="0" y="0"/>
                </a:moveTo>
                <a:lnTo>
                  <a:pt x="6631983" y="0"/>
                </a:lnTo>
                <a:lnTo>
                  <a:pt x="6631983" y="5269412"/>
                </a:lnTo>
                <a:lnTo>
                  <a:pt x="0" y="52694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8879195" y="1111460"/>
            <a:ext cx="2894041" cy="2057400"/>
          </a:xfrm>
          <a:custGeom>
            <a:avLst/>
            <a:gdLst/>
            <a:ahLst/>
            <a:cxnLst/>
            <a:rect l="l" t="t" r="r" b="b"/>
            <a:pathLst>
              <a:path w="2894041" h="2057400">
                <a:moveTo>
                  <a:pt x="0" y="0"/>
                </a:moveTo>
                <a:lnTo>
                  <a:pt x="2894041" y="0"/>
                </a:lnTo>
                <a:lnTo>
                  <a:pt x="2894041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11959152" y="5798154"/>
            <a:ext cx="5250328" cy="2962603"/>
            <a:chOff x="0" y="0"/>
            <a:chExt cx="1382802" cy="78027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82802" cy="780274"/>
            </a:xfrm>
            <a:custGeom>
              <a:avLst/>
              <a:gdLst/>
              <a:ahLst/>
              <a:cxnLst/>
              <a:rect l="l" t="t" r="r" b="b"/>
              <a:pathLst>
                <a:path w="1382802" h="780274">
                  <a:moveTo>
                    <a:pt x="56033" y="0"/>
                  </a:moveTo>
                  <a:lnTo>
                    <a:pt x="1326769" y="0"/>
                  </a:lnTo>
                  <a:cubicBezTo>
                    <a:pt x="1341630" y="0"/>
                    <a:pt x="1355882" y="5903"/>
                    <a:pt x="1366391" y="16412"/>
                  </a:cubicBezTo>
                  <a:cubicBezTo>
                    <a:pt x="1376899" y="26920"/>
                    <a:pt x="1382802" y="41172"/>
                    <a:pt x="1382802" y="56033"/>
                  </a:cubicBezTo>
                  <a:lnTo>
                    <a:pt x="1382802" y="724241"/>
                  </a:lnTo>
                  <a:cubicBezTo>
                    <a:pt x="1382802" y="739102"/>
                    <a:pt x="1376899" y="753354"/>
                    <a:pt x="1366391" y="763862"/>
                  </a:cubicBezTo>
                  <a:cubicBezTo>
                    <a:pt x="1355882" y="774371"/>
                    <a:pt x="1341630" y="780274"/>
                    <a:pt x="1326769" y="780274"/>
                  </a:cubicBezTo>
                  <a:lnTo>
                    <a:pt x="56033" y="780274"/>
                  </a:lnTo>
                  <a:cubicBezTo>
                    <a:pt x="25087" y="780274"/>
                    <a:pt x="0" y="755187"/>
                    <a:pt x="0" y="724241"/>
                  </a:cubicBezTo>
                  <a:lnTo>
                    <a:pt x="0" y="56033"/>
                  </a:lnTo>
                  <a:cubicBezTo>
                    <a:pt x="0" y="41172"/>
                    <a:pt x="5903" y="26920"/>
                    <a:pt x="16412" y="16412"/>
                  </a:cubicBezTo>
                  <a:cubicBezTo>
                    <a:pt x="26920" y="5903"/>
                    <a:pt x="41172" y="0"/>
                    <a:pt x="56033" y="0"/>
                  </a:cubicBezTo>
                  <a:close/>
                </a:path>
              </a:pathLst>
            </a:custGeom>
            <a:solidFill>
              <a:srgbClr val="F48A6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85725"/>
              <a:ext cx="1382802" cy="8659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61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2187557" y="7676940"/>
            <a:ext cx="4652127" cy="10051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3"/>
              </a:lnSpc>
            </a:pPr>
            <a:r>
              <a:rPr lang="en-US" sz="4239">
                <a:solidFill>
                  <a:srgbClr val="FFFFF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Coordinador Académico</a:t>
            </a:r>
          </a:p>
        </p:txBody>
      </p:sp>
      <p:sp>
        <p:nvSpPr>
          <p:cNvPr id="8" name="Freeform 8"/>
          <p:cNvSpPr/>
          <p:nvPr/>
        </p:nvSpPr>
        <p:spPr>
          <a:xfrm rot="579840">
            <a:off x="16992339" y="7996086"/>
            <a:ext cx="2097569" cy="2524427"/>
          </a:xfrm>
          <a:custGeom>
            <a:avLst/>
            <a:gdLst/>
            <a:ahLst/>
            <a:cxnLst/>
            <a:rect l="l" t="t" r="r" b="b"/>
            <a:pathLst>
              <a:path w="2097569" h="2524427">
                <a:moveTo>
                  <a:pt x="0" y="0"/>
                </a:moveTo>
                <a:lnTo>
                  <a:pt x="2097569" y="0"/>
                </a:lnTo>
                <a:lnTo>
                  <a:pt x="2097569" y="2524428"/>
                </a:lnTo>
                <a:lnTo>
                  <a:pt x="0" y="252442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15173837" y="-2396593"/>
            <a:ext cx="4463787" cy="4114800"/>
          </a:xfrm>
          <a:custGeom>
            <a:avLst/>
            <a:gdLst/>
            <a:ahLst/>
            <a:cxnLst/>
            <a:rect l="l" t="t" r="r" b="b"/>
            <a:pathLst>
              <a:path w="4463787" h="4114800">
                <a:moveTo>
                  <a:pt x="0" y="0"/>
                </a:moveTo>
                <a:lnTo>
                  <a:pt x="4463787" y="0"/>
                </a:lnTo>
                <a:lnTo>
                  <a:pt x="446378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12008972" y="1506822"/>
            <a:ext cx="5250328" cy="2962603"/>
            <a:chOff x="0" y="0"/>
            <a:chExt cx="1382802" cy="78027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382802" cy="780274"/>
            </a:xfrm>
            <a:custGeom>
              <a:avLst/>
              <a:gdLst/>
              <a:ahLst/>
              <a:cxnLst/>
              <a:rect l="l" t="t" r="r" b="b"/>
              <a:pathLst>
                <a:path w="1382802" h="780274">
                  <a:moveTo>
                    <a:pt x="56033" y="0"/>
                  </a:moveTo>
                  <a:lnTo>
                    <a:pt x="1326769" y="0"/>
                  </a:lnTo>
                  <a:cubicBezTo>
                    <a:pt x="1341630" y="0"/>
                    <a:pt x="1355882" y="5903"/>
                    <a:pt x="1366391" y="16412"/>
                  </a:cubicBezTo>
                  <a:cubicBezTo>
                    <a:pt x="1376899" y="26920"/>
                    <a:pt x="1382802" y="41172"/>
                    <a:pt x="1382802" y="56033"/>
                  </a:cubicBezTo>
                  <a:lnTo>
                    <a:pt x="1382802" y="724241"/>
                  </a:lnTo>
                  <a:cubicBezTo>
                    <a:pt x="1382802" y="739102"/>
                    <a:pt x="1376899" y="753354"/>
                    <a:pt x="1366391" y="763862"/>
                  </a:cubicBezTo>
                  <a:cubicBezTo>
                    <a:pt x="1355882" y="774371"/>
                    <a:pt x="1341630" y="780274"/>
                    <a:pt x="1326769" y="780274"/>
                  </a:cubicBezTo>
                  <a:lnTo>
                    <a:pt x="56033" y="780274"/>
                  </a:lnTo>
                  <a:cubicBezTo>
                    <a:pt x="25087" y="780274"/>
                    <a:pt x="0" y="755187"/>
                    <a:pt x="0" y="724241"/>
                  </a:cubicBezTo>
                  <a:lnTo>
                    <a:pt x="0" y="56033"/>
                  </a:lnTo>
                  <a:cubicBezTo>
                    <a:pt x="0" y="41172"/>
                    <a:pt x="5903" y="26920"/>
                    <a:pt x="16412" y="16412"/>
                  </a:cubicBezTo>
                  <a:cubicBezTo>
                    <a:pt x="26920" y="5903"/>
                    <a:pt x="41172" y="0"/>
                    <a:pt x="56033" y="0"/>
                  </a:cubicBezTo>
                  <a:close/>
                </a:path>
              </a:pathLst>
            </a:custGeom>
            <a:solidFill>
              <a:srgbClr val="F48A6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1382802" cy="8659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61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336639" y="5798154"/>
            <a:ext cx="5250328" cy="2962603"/>
            <a:chOff x="0" y="0"/>
            <a:chExt cx="1382802" cy="78027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382802" cy="780274"/>
            </a:xfrm>
            <a:custGeom>
              <a:avLst/>
              <a:gdLst/>
              <a:ahLst/>
              <a:cxnLst/>
              <a:rect l="l" t="t" r="r" b="b"/>
              <a:pathLst>
                <a:path w="1382802" h="780274">
                  <a:moveTo>
                    <a:pt x="56033" y="0"/>
                  </a:moveTo>
                  <a:lnTo>
                    <a:pt x="1326769" y="0"/>
                  </a:lnTo>
                  <a:cubicBezTo>
                    <a:pt x="1341630" y="0"/>
                    <a:pt x="1355882" y="5903"/>
                    <a:pt x="1366391" y="16412"/>
                  </a:cubicBezTo>
                  <a:cubicBezTo>
                    <a:pt x="1376899" y="26920"/>
                    <a:pt x="1382802" y="41172"/>
                    <a:pt x="1382802" y="56033"/>
                  </a:cubicBezTo>
                  <a:lnTo>
                    <a:pt x="1382802" y="724241"/>
                  </a:lnTo>
                  <a:cubicBezTo>
                    <a:pt x="1382802" y="739102"/>
                    <a:pt x="1376899" y="753354"/>
                    <a:pt x="1366391" y="763862"/>
                  </a:cubicBezTo>
                  <a:cubicBezTo>
                    <a:pt x="1355882" y="774371"/>
                    <a:pt x="1341630" y="780274"/>
                    <a:pt x="1326769" y="780274"/>
                  </a:cubicBezTo>
                  <a:lnTo>
                    <a:pt x="56033" y="780274"/>
                  </a:lnTo>
                  <a:cubicBezTo>
                    <a:pt x="25087" y="780274"/>
                    <a:pt x="0" y="755187"/>
                    <a:pt x="0" y="724241"/>
                  </a:cubicBezTo>
                  <a:lnTo>
                    <a:pt x="0" y="56033"/>
                  </a:lnTo>
                  <a:cubicBezTo>
                    <a:pt x="0" y="41172"/>
                    <a:pt x="5903" y="26920"/>
                    <a:pt x="16412" y="16412"/>
                  </a:cubicBezTo>
                  <a:cubicBezTo>
                    <a:pt x="26920" y="5903"/>
                    <a:pt x="41172" y="0"/>
                    <a:pt x="56033" y="0"/>
                  </a:cubicBezTo>
                  <a:close/>
                </a:path>
              </a:pathLst>
            </a:custGeom>
            <a:solidFill>
              <a:srgbClr val="F48A6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85725"/>
              <a:ext cx="1382802" cy="8659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161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7597389" y="5000886"/>
            <a:ext cx="2728827" cy="2278570"/>
          </a:xfrm>
          <a:custGeom>
            <a:avLst/>
            <a:gdLst/>
            <a:ahLst/>
            <a:cxnLst/>
            <a:rect l="l" t="t" r="r" b="b"/>
            <a:pathLst>
              <a:path w="2728827" h="2278570">
                <a:moveTo>
                  <a:pt x="0" y="0"/>
                </a:moveTo>
                <a:lnTo>
                  <a:pt x="2728827" y="0"/>
                </a:lnTo>
                <a:lnTo>
                  <a:pt x="2728827" y="2278570"/>
                </a:lnTo>
                <a:lnTo>
                  <a:pt x="0" y="227857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>
            <a:off x="12493547" y="790807"/>
            <a:ext cx="2680291" cy="2492671"/>
          </a:xfrm>
          <a:custGeom>
            <a:avLst/>
            <a:gdLst/>
            <a:ahLst/>
            <a:cxnLst/>
            <a:rect l="l" t="t" r="r" b="b"/>
            <a:pathLst>
              <a:path w="2680291" h="2492671">
                <a:moveTo>
                  <a:pt x="0" y="0"/>
                </a:moveTo>
                <a:lnTo>
                  <a:pt x="2680290" y="0"/>
                </a:lnTo>
                <a:lnTo>
                  <a:pt x="2680290" y="2492670"/>
                </a:lnTo>
                <a:lnTo>
                  <a:pt x="0" y="249267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Freeform 18"/>
          <p:cNvSpPr/>
          <p:nvPr/>
        </p:nvSpPr>
        <p:spPr>
          <a:xfrm flipH="1">
            <a:off x="15308026" y="1747515"/>
            <a:ext cx="1651572" cy="1535962"/>
          </a:xfrm>
          <a:custGeom>
            <a:avLst/>
            <a:gdLst/>
            <a:ahLst/>
            <a:cxnLst/>
            <a:rect l="l" t="t" r="r" b="b"/>
            <a:pathLst>
              <a:path w="1651572" h="1535962">
                <a:moveTo>
                  <a:pt x="1651572" y="0"/>
                </a:moveTo>
                <a:lnTo>
                  <a:pt x="0" y="0"/>
                </a:lnTo>
                <a:lnTo>
                  <a:pt x="0" y="1535962"/>
                </a:lnTo>
                <a:lnTo>
                  <a:pt x="1651572" y="1535962"/>
                </a:lnTo>
                <a:lnTo>
                  <a:pt x="1651572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9" name="Freeform 19"/>
          <p:cNvSpPr/>
          <p:nvPr/>
        </p:nvSpPr>
        <p:spPr>
          <a:xfrm>
            <a:off x="13171020" y="5508214"/>
            <a:ext cx="2826592" cy="2158488"/>
          </a:xfrm>
          <a:custGeom>
            <a:avLst/>
            <a:gdLst/>
            <a:ahLst/>
            <a:cxnLst/>
            <a:rect l="l" t="t" r="r" b="b"/>
            <a:pathLst>
              <a:path w="2826592" h="2158488">
                <a:moveTo>
                  <a:pt x="0" y="0"/>
                </a:moveTo>
                <a:lnTo>
                  <a:pt x="2826592" y="0"/>
                </a:lnTo>
                <a:lnTo>
                  <a:pt x="2826592" y="2158488"/>
                </a:lnTo>
                <a:lnTo>
                  <a:pt x="0" y="215848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TextBox 20"/>
          <p:cNvSpPr txBox="1"/>
          <p:nvPr/>
        </p:nvSpPr>
        <p:spPr>
          <a:xfrm>
            <a:off x="1111905" y="2094947"/>
            <a:ext cx="5972607" cy="2462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65"/>
              </a:lnSpc>
            </a:pPr>
            <a:r>
              <a:rPr lang="en-US" sz="10522">
                <a:solidFill>
                  <a:srgbClr val="F48A6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Roles de usuario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034692" y="7715040"/>
            <a:ext cx="3854221" cy="607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5039">
                <a:solidFill>
                  <a:srgbClr val="FFFFF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Estudiante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235916" y="3769416"/>
            <a:ext cx="4796439" cy="607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5"/>
              </a:lnSpc>
            </a:pPr>
            <a:r>
              <a:rPr lang="en-US" sz="5039">
                <a:solidFill>
                  <a:srgbClr val="FFFFF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Tutor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403879" y="9004098"/>
            <a:ext cx="5115847" cy="299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5"/>
              </a:lnSpc>
            </a:pPr>
            <a:r>
              <a:rPr lang="en-US" sz="2523">
                <a:solidFill>
                  <a:srgbClr val="F48A6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Solicita y visualiza tutorías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773059" y="4701510"/>
            <a:ext cx="5722154" cy="299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5"/>
              </a:lnSpc>
            </a:pPr>
            <a:r>
              <a:rPr lang="en-US" sz="2523">
                <a:solidFill>
                  <a:srgbClr val="F48A6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Gestiona agenda y registra avances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299568" y="9053773"/>
            <a:ext cx="4909911" cy="575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45"/>
              </a:lnSpc>
            </a:pPr>
            <a:r>
              <a:rPr lang="en-US" sz="2523">
                <a:solidFill>
                  <a:srgbClr val="F48A6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Consulta reportes y seguimiento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8A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921084">
            <a:off x="14922805" y="7200900"/>
            <a:ext cx="4463787" cy="4114800"/>
          </a:xfrm>
          <a:custGeom>
            <a:avLst/>
            <a:gdLst/>
            <a:ahLst/>
            <a:cxnLst/>
            <a:rect l="l" t="t" r="r" b="b"/>
            <a:pathLst>
              <a:path w="4463787" h="4114800">
                <a:moveTo>
                  <a:pt x="0" y="0"/>
                </a:moveTo>
                <a:lnTo>
                  <a:pt x="4463787" y="0"/>
                </a:lnTo>
                <a:lnTo>
                  <a:pt x="446378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rot="-177381">
            <a:off x="410583" y="759233"/>
            <a:ext cx="3409116" cy="3485156"/>
          </a:xfrm>
          <a:custGeom>
            <a:avLst/>
            <a:gdLst/>
            <a:ahLst/>
            <a:cxnLst/>
            <a:rect l="l" t="t" r="r" b="b"/>
            <a:pathLst>
              <a:path w="3409116" h="3485156">
                <a:moveTo>
                  <a:pt x="0" y="0"/>
                </a:moveTo>
                <a:lnTo>
                  <a:pt x="3409116" y="0"/>
                </a:lnTo>
                <a:lnTo>
                  <a:pt x="3409116" y="3485155"/>
                </a:lnTo>
                <a:lnTo>
                  <a:pt x="0" y="34851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327689">
            <a:off x="14315305" y="262630"/>
            <a:ext cx="3216995" cy="3923165"/>
          </a:xfrm>
          <a:custGeom>
            <a:avLst/>
            <a:gdLst/>
            <a:ahLst/>
            <a:cxnLst/>
            <a:rect l="l" t="t" r="r" b="b"/>
            <a:pathLst>
              <a:path w="3216995" h="3923165">
                <a:moveTo>
                  <a:pt x="0" y="0"/>
                </a:moveTo>
                <a:lnTo>
                  <a:pt x="3216995" y="0"/>
                </a:lnTo>
                <a:lnTo>
                  <a:pt x="3216995" y="3923165"/>
                </a:lnTo>
                <a:lnTo>
                  <a:pt x="0" y="392316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-1597149" y="6800681"/>
            <a:ext cx="4463787" cy="4114800"/>
          </a:xfrm>
          <a:custGeom>
            <a:avLst/>
            <a:gdLst/>
            <a:ahLst/>
            <a:cxnLst/>
            <a:rect l="l" t="t" r="r" b="b"/>
            <a:pathLst>
              <a:path w="4463787" h="4114800">
                <a:moveTo>
                  <a:pt x="0" y="0"/>
                </a:moveTo>
                <a:lnTo>
                  <a:pt x="4463787" y="0"/>
                </a:lnTo>
                <a:lnTo>
                  <a:pt x="446378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3271501" y="4575284"/>
            <a:ext cx="5559921" cy="2299757"/>
            <a:chOff x="0" y="0"/>
            <a:chExt cx="5099441" cy="2109288"/>
          </a:xfrm>
        </p:grpSpPr>
        <p:sp>
          <p:nvSpPr>
            <p:cNvPr id="7" name="Freeform 7"/>
            <p:cNvSpPr/>
            <p:nvPr/>
          </p:nvSpPr>
          <p:spPr>
            <a:xfrm>
              <a:off x="0" y="-1270"/>
              <a:ext cx="5100711" cy="2108018"/>
            </a:xfrm>
            <a:custGeom>
              <a:avLst/>
              <a:gdLst/>
              <a:ahLst/>
              <a:cxnLst/>
              <a:rect l="l" t="t" r="r" b="b"/>
              <a:pathLst>
                <a:path w="5100711" h="2108018">
                  <a:moveTo>
                    <a:pt x="5089281" y="27940"/>
                  </a:moveTo>
                  <a:cubicBezTo>
                    <a:pt x="5080391" y="24130"/>
                    <a:pt x="5071501" y="21590"/>
                    <a:pt x="5062611" y="21590"/>
                  </a:cubicBezTo>
                  <a:cubicBezTo>
                    <a:pt x="5035941" y="20320"/>
                    <a:pt x="4960707" y="20320"/>
                    <a:pt x="4876669" y="17780"/>
                  </a:cubicBezTo>
                  <a:cubicBezTo>
                    <a:pt x="4684582" y="12700"/>
                    <a:pt x="4496497" y="6350"/>
                    <a:pt x="4304410" y="3810"/>
                  </a:cubicBezTo>
                  <a:cubicBezTo>
                    <a:pt x="4148339" y="1270"/>
                    <a:pt x="3996271" y="3810"/>
                    <a:pt x="3840200" y="2540"/>
                  </a:cubicBezTo>
                  <a:cubicBezTo>
                    <a:pt x="3772169" y="2540"/>
                    <a:pt x="3704138" y="0"/>
                    <a:pt x="3636108" y="2540"/>
                  </a:cubicBezTo>
                  <a:cubicBezTo>
                    <a:pt x="3472033" y="10160"/>
                    <a:pt x="3307959" y="11430"/>
                    <a:pt x="3139883" y="8890"/>
                  </a:cubicBezTo>
                  <a:cubicBezTo>
                    <a:pt x="3055845" y="7620"/>
                    <a:pt x="2971807" y="7620"/>
                    <a:pt x="2887769" y="7620"/>
                  </a:cubicBezTo>
                  <a:cubicBezTo>
                    <a:pt x="2735700" y="7620"/>
                    <a:pt x="2583631" y="7620"/>
                    <a:pt x="2431562" y="6350"/>
                  </a:cubicBezTo>
                  <a:cubicBezTo>
                    <a:pt x="2271490" y="5080"/>
                    <a:pt x="694776" y="2540"/>
                    <a:pt x="538705" y="1270"/>
                  </a:cubicBezTo>
                  <a:cubicBezTo>
                    <a:pt x="410648" y="0"/>
                    <a:pt x="286591" y="1270"/>
                    <a:pt x="158533" y="1270"/>
                  </a:cubicBezTo>
                  <a:cubicBezTo>
                    <a:pt x="70493" y="1270"/>
                    <a:pt x="33020" y="3810"/>
                    <a:pt x="5080" y="5080"/>
                  </a:cubicBezTo>
                  <a:cubicBezTo>
                    <a:pt x="3810" y="5080"/>
                    <a:pt x="2540" y="7620"/>
                    <a:pt x="0" y="8890"/>
                  </a:cubicBezTo>
                  <a:cubicBezTo>
                    <a:pt x="1270" y="21590"/>
                    <a:pt x="3810" y="34290"/>
                    <a:pt x="5080" y="46990"/>
                  </a:cubicBezTo>
                  <a:cubicBezTo>
                    <a:pt x="15240" y="131333"/>
                    <a:pt x="16510" y="222056"/>
                    <a:pt x="17780" y="311187"/>
                  </a:cubicBezTo>
                  <a:cubicBezTo>
                    <a:pt x="19050" y="401910"/>
                    <a:pt x="17780" y="492632"/>
                    <a:pt x="16510" y="584947"/>
                  </a:cubicBezTo>
                  <a:cubicBezTo>
                    <a:pt x="15240" y="678853"/>
                    <a:pt x="2540" y="1664070"/>
                    <a:pt x="2540" y="1757976"/>
                  </a:cubicBezTo>
                  <a:cubicBezTo>
                    <a:pt x="2540" y="1850290"/>
                    <a:pt x="1270" y="1942604"/>
                    <a:pt x="0" y="2034919"/>
                  </a:cubicBezTo>
                  <a:cubicBezTo>
                    <a:pt x="0" y="2053408"/>
                    <a:pt x="3810" y="2063568"/>
                    <a:pt x="15240" y="2068648"/>
                  </a:cubicBezTo>
                  <a:cubicBezTo>
                    <a:pt x="22860" y="2072458"/>
                    <a:pt x="31750" y="2074998"/>
                    <a:pt x="40640" y="2076268"/>
                  </a:cubicBezTo>
                  <a:cubicBezTo>
                    <a:pt x="154531" y="2081348"/>
                    <a:pt x="306600" y="2085158"/>
                    <a:pt x="458669" y="2090238"/>
                  </a:cubicBezTo>
                  <a:cubicBezTo>
                    <a:pt x="542707" y="2092778"/>
                    <a:pt x="626745" y="2097858"/>
                    <a:pt x="710783" y="2099128"/>
                  </a:cubicBezTo>
                  <a:cubicBezTo>
                    <a:pt x="850847" y="2101668"/>
                    <a:pt x="2411553" y="2102938"/>
                    <a:pt x="2551617" y="2104208"/>
                  </a:cubicBezTo>
                  <a:cubicBezTo>
                    <a:pt x="2571626" y="2104208"/>
                    <a:pt x="2591635" y="2104208"/>
                    <a:pt x="2611644" y="2104208"/>
                  </a:cubicBezTo>
                  <a:cubicBezTo>
                    <a:pt x="2707687" y="2104208"/>
                    <a:pt x="2807732" y="2102938"/>
                    <a:pt x="2903776" y="2102938"/>
                  </a:cubicBezTo>
                  <a:cubicBezTo>
                    <a:pt x="3015827" y="2102938"/>
                    <a:pt x="3123875" y="2104208"/>
                    <a:pt x="3235926" y="2104208"/>
                  </a:cubicBezTo>
                  <a:cubicBezTo>
                    <a:pt x="3400001" y="2104208"/>
                    <a:pt x="3568077" y="2104208"/>
                    <a:pt x="3732151" y="2104208"/>
                  </a:cubicBezTo>
                  <a:cubicBezTo>
                    <a:pt x="3884220" y="2104208"/>
                    <a:pt x="4036289" y="2105478"/>
                    <a:pt x="4188358" y="2106748"/>
                  </a:cubicBezTo>
                  <a:cubicBezTo>
                    <a:pt x="4256388" y="2106748"/>
                    <a:pt x="4328421" y="2108018"/>
                    <a:pt x="4396451" y="2108018"/>
                  </a:cubicBezTo>
                  <a:cubicBezTo>
                    <a:pt x="4616551" y="2106748"/>
                    <a:pt x="4832649" y="2100398"/>
                    <a:pt x="5039751" y="2100398"/>
                  </a:cubicBezTo>
                  <a:cubicBezTo>
                    <a:pt x="5043561" y="2100398"/>
                    <a:pt x="5048641" y="2097858"/>
                    <a:pt x="5052451" y="2095318"/>
                  </a:cubicBezTo>
                  <a:cubicBezTo>
                    <a:pt x="5057531" y="2091508"/>
                    <a:pt x="5060071" y="2085158"/>
                    <a:pt x="5062611" y="2082618"/>
                  </a:cubicBezTo>
                  <a:cubicBezTo>
                    <a:pt x="5063881" y="2023777"/>
                    <a:pt x="5065151" y="1956929"/>
                    <a:pt x="5066421" y="1890080"/>
                  </a:cubicBezTo>
                  <a:cubicBezTo>
                    <a:pt x="5067691" y="1786625"/>
                    <a:pt x="5077851" y="793450"/>
                    <a:pt x="5079121" y="689994"/>
                  </a:cubicBezTo>
                  <a:cubicBezTo>
                    <a:pt x="5079121" y="627920"/>
                    <a:pt x="5080391" y="565847"/>
                    <a:pt x="5081661" y="503774"/>
                  </a:cubicBezTo>
                  <a:cubicBezTo>
                    <a:pt x="5082931" y="436925"/>
                    <a:pt x="5084201" y="370077"/>
                    <a:pt x="5086741" y="303229"/>
                  </a:cubicBezTo>
                  <a:cubicBezTo>
                    <a:pt x="5088011" y="263438"/>
                    <a:pt x="5088011" y="222056"/>
                    <a:pt x="5093091" y="182265"/>
                  </a:cubicBezTo>
                  <a:cubicBezTo>
                    <a:pt x="5098171" y="134516"/>
                    <a:pt x="5100711" y="88359"/>
                    <a:pt x="5099441" y="44450"/>
                  </a:cubicBezTo>
                  <a:cubicBezTo>
                    <a:pt x="5099441" y="38100"/>
                    <a:pt x="5095631" y="30480"/>
                    <a:pt x="5089281" y="2794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559792" y="4273041"/>
            <a:ext cx="4983341" cy="517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5"/>
              </a:lnSpc>
            </a:pPr>
            <a:r>
              <a:rPr lang="en-US" sz="2742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Frontend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907305" y="1659446"/>
            <a:ext cx="10667386" cy="22765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3"/>
              </a:lnSpc>
            </a:pPr>
            <a:r>
              <a:rPr lang="en-US" sz="9678">
                <a:solidFill>
                  <a:srgbClr val="FFFFF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ARQUITECTURA DEL SISTEMA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634751" y="5019677"/>
            <a:ext cx="4833422" cy="1457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37"/>
              </a:lnSpc>
            </a:pPr>
            <a:r>
              <a:rPr lang="en-US" sz="4074" b="1">
                <a:solidFill>
                  <a:srgbClr val="69372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React + Vite + TailwindCSS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240998" y="4575284"/>
            <a:ext cx="5559921" cy="2299757"/>
            <a:chOff x="0" y="0"/>
            <a:chExt cx="5099441" cy="2109288"/>
          </a:xfrm>
        </p:grpSpPr>
        <p:sp>
          <p:nvSpPr>
            <p:cNvPr id="12" name="Freeform 12"/>
            <p:cNvSpPr/>
            <p:nvPr/>
          </p:nvSpPr>
          <p:spPr>
            <a:xfrm>
              <a:off x="0" y="-1270"/>
              <a:ext cx="5100711" cy="2108018"/>
            </a:xfrm>
            <a:custGeom>
              <a:avLst/>
              <a:gdLst/>
              <a:ahLst/>
              <a:cxnLst/>
              <a:rect l="l" t="t" r="r" b="b"/>
              <a:pathLst>
                <a:path w="5100711" h="2108018">
                  <a:moveTo>
                    <a:pt x="5089281" y="27940"/>
                  </a:moveTo>
                  <a:cubicBezTo>
                    <a:pt x="5080391" y="24130"/>
                    <a:pt x="5071501" y="21590"/>
                    <a:pt x="5062611" y="21590"/>
                  </a:cubicBezTo>
                  <a:cubicBezTo>
                    <a:pt x="5035941" y="20320"/>
                    <a:pt x="4960707" y="20320"/>
                    <a:pt x="4876669" y="17780"/>
                  </a:cubicBezTo>
                  <a:cubicBezTo>
                    <a:pt x="4684582" y="12700"/>
                    <a:pt x="4496497" y="6350"/>
                    <a:pt x="4304410" y="3810"/>
                  </a:cubicBezTo>
                  <a:cubicBezTo>
                    <a:pt x="4148339" y="1270"/>
                    <a:pt x="3996271" y="3810"/>
                    <a:pt x="3840200" y="2540"/>
                  </a:cubicBezTo>
                  <a:cubicBezTo>
                    <a:pt x="3772169" y="2540"/>
                    <a:pt x="3704138" y="0"/>
                    <a:pt x="3636108" y="2540"/>
                  </a:cubicBezTo>
                  <a:cubicBezTo>
                    <a:pt x="3472033" y="10160"/>
                    <a:pt x="3307959" y="11430"/>
                    <a:pt x="3139883" y="8890"/>
                  </a:cubicBezTo>
                  <a:cubicBezTo>
                    <a:pt x="3055845" y="7620"/>
                    <a:pt x="2971807" y="7620"/>
                    <a:pt x="2887769" y="7620"/>
                  </a:cubicBezTo>
                  <a:cubicBezTo>
                    <a:pt x="2735700" y="7620"/>
                    <a:pt x="2583631" y="7620"/>
                    <a:pt x="2431562" y="6350"/>
                  </a:cubicBezTo>
                  <a:cubicBezTo>
                    <a:pt x="2271490" y="5080"/>
                    <a:pt x="694776" y="2540"/>
                    <a:pt x="538705" y="1270"/>
                  </a:cubicBezTo>
                  <a:cubicBezTo>
                    <a:pt x="410648" y="0"/>
                    <a:pt x="286591" y="1270"/>
                    <a:pt x="158533" y="1270"/>
                  </a:cubicBezTo>
                  <a:cubicBezTo>
                    <a:pt x="70493" y="1270"/>
                    <a:pt x="33020" y="3810"/>
                    <a:pt x="5080" y="5080"/>
                  </a:cubicBezTo>
                  <a:cubicBezTo>
                    <a:pt x="3810" y="5080"/>
                    <a:pt x="2540" y="7620"/>
                    <a:pt x="0" y="8890"/>
                  </a:cubicBezTo>
                  <a:cubicBezTo>
                    <a:pt x="1270" y="21590"/>
                    <a:pt x="3810" y="34290"/>
                    <a:pt x="5080" y="46990"/>
                  </a:cubicBezTo>
                  <a:cubicBezTo>
                    <a:pt x="15240" y="131333"/>
                    <a:pt x="16510" y="222056"/>
                    <a:pt x="17780" y="311187"/>
                  </a:cubicBezTo>
                  <a:cubicBezTo>
                    <a:pt x="19050" y="401910"/>
                    <a:pt x="17780" y="492632"/>
                    <a:pt x="16510" y="584947"/>
                  </a:cubicBezTo>
                  <a:cubicBezTo>
                    <a:pt x="15240" y="678853"/>
                    <a:pt x="2540" y="1664070"/>
                    <a:pt x="2540" y="1757976"/>
                  </a:cubicBezTo>
                  <a:cubicBezTo>
                    <a:pt x="2540" y="1850290"/>
                    <a:pt x="1270" y="1942604"/>
                    <a:pt x="0" y="2034919"/>
                  </a:cubicBezTo>
                  <a:cubicBezTo>
                    <a:pt x="0" y="2053408"/>
                    <a:pt x="3810" y="2063568"/>
                    <a:pt x="15240" y="2068648"/>
                  </a:cubicBezTo>
                  <a:cubicBezTo>
                    <a:pt x="22860" y="2072458"/>
                    <a:pt x="31750" y="2074998"/>
                    <a:pt x="40640" y="2076268"/>
                  </a:cubicBezTo>
                  <a:cubicBezTo>
                    <a:pt x="154531" y="2081348"/>
                    <a:pt x="306600" y="2085158"/>
                    <a:pt x="458669" y="2090238"/>
                  </a:cubicBezTo>
                  <a:cubicBezTo>
                    <a:pt x="542707" y="2092778"/>
                    <a:pt x="626745" y="2097858"/>
                    <a:pt x="710783" y="2099128"/>
                  </a:cubicBezTo>
                  <a:cubicBezTo>
                    <a:pt x="850847" y="2101668"/>
                    <a:pt x="2411553" y="2102938"/>
                    <a:pt x="2551617" y="2104208"/>
                  </a:cubicBezTo>
                  <a:cubicBezTo>
                    <a:pt x="2571626" y="2104208"/>
                    <a:pt x="2591635" y="2104208"/>
                    <a:pt x="2611644" y="2104208"/>
                  </a:cubicBezTo>
                  <a:cubicBezTo>
                    <a:pt x="2707687" y="2104208"/>
                    <a:pt x="2807732" y="2102938"/>
                    <a:pt x="2903776" y="2102938"/>
                  </a:cubicBezTo>
                  <a:cubicBezTo>
                    <a:pt x="3015827" y="2102938"/>
                    <a:pt x="3123875" y="2104208"/>
                    <a:pt x="3235926" y="2104208"/>
                  </a:cubicBezTo>
                  <a:cubicBezTo>
                    <a:pt x="3400001" y="2104208"/>
                    <a:pt x="3568077" y="2104208"/>
                    <a:pt x="3732151" y="2104208"/>
                  </a:cubicBezTo>
                  <a:cubicBezTo>
                    <a:pt x="3884220" y="2104208"/>
                    <a:pt x="4036289" y="2105478"/>
                    <a:pt x="4188358" y="2106748"/>
                  </a:cubicBezTo>
                  <a:cubicBezTo>
                    <a:pt x="4256388" y="2106748"/>
                    <a:pt x="4328421" y="2108018"/>
                    <a:pt x="4396451" y="2108018"/>
                  </a:cubicBezTo>
                  <a:cubicBezTo>
                    <a:pt x="4616551" y="2106748"/>
                    <a:pt x="4832649" y="2100398"/>
                    <a:pt x="5039751" y="2100398"/>
                  </a:cubicBezTo>
                  <a:cubicBezTo>
                    <a:pt x="5043561" y="2100398"/>
                    <a:pt x="5048641" y="2097858"/>
                    <a:pt x="5052451" y="2095318"/>
                  </a:cubicBezTo>
                  <a:cubicBezTo>
                    <a:pt x="5057531" y="2091508"/>
                    <a:pt x="5060071" y="2085158"/>
                    <a:pt x="5062611" y="2082618"/>
                  </a:cubicBezTo>
                  <a:cubicBezTo>
                    <a:pt x="5063881" y="2023777"/>
                    <a:pt x="5065151" y="1956929"/>
                    <a:pt x="5066421" y="1890080"/>
                  </a:cubicBezTo>
                  <a:cubicBezTo>
                    <a:pt x="5067691" y="1786625"/>
                    <a:pt x="5077851" y="793450"/>
                    <a:pt x="5079121" y="689994"/>
                  </a:cubicBezTo>
                  <a:cubicBezTo>
                    <a:pt x="5079121" y="627920"/>
                    <a:pt x="5080391" y="565847"/>
                    <a:pt x="5081661" y="503774"/>
                  </a:cubicBezTo>
                  <a:cubicBezTo>
                    <a:pt x="5082931" y="436925"/>
                    <a:pt x="5084201" y="370077"/>
                    <a:pt x="5086741" y="303229"/>
                  </a:cubicBezTo>
                  <a:cubicBezTo>
                    <a:pt x="5088011" y="263438"/>
                    <a:pt x="5088011" y="222056"/>
                    <a:pt x="5093091" y="182265"/>
                  </a:cubicBezTo>
                  <a:cubicBezTo>
                    <a:pt x="5098171" y="134516"/>
                    <a:pt x="5100711" y="88359"/>
                    <a:pt x="5099441" y="44450"/>
                  </a:cubicBezTo>
                  <a:cubicBezTo>
                    <a:pt x="5099441" y="38100"/>
                    <a:pt x="5095631" y="30480"/>
                    <a:pt x="5089281" y="2794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529288" y="4273041"/>
            <a:ext cx="4983341" cy="517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5"/>
              </a:lnSpc>
            </a:pPr>
            <a:r>
              <a:rPr lang="en-US" sz="2742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Backend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378019" y="5067036"/>
            <a:ext cx="5196672" cy="1457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37"/>
              </a:lnSpc>
            </a:pPr>
            <a:r>
              <a:rPr lang="en-US" sz="4074" b="1">
                <a:solidFill>
                  <a:srgbClr val="69372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NestJS (TypeScript) + Prisma ORM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3271501" y="7396357"/>
            <a:ext cx="5559921" cy="2299757"/>
            <a:chOff x="0" y="0"/>
            <a:chExt cx="5099441" cy="2109288"/>
          </a:xfrm>
        </p:grpSpPr>
        <p:sp>
          <p:nvSpPr>
            <p:cNvPr id="16" name="Freeform 16"/>
            <p:cNvSpPr/>
            <p:nvPr/>
          </p:nvSpPr>
          <p:spPr>
            <a:xfrm>
              <a:off x="0" y="-1270"/>
              <a:ext cx="5100711" cy="2108018"/>
            </a:xfrm>
            <a:custGeom>
              <a:avLst/>
              <a:gdLst/>
              <a:ahLst/>
              <a:cxnLst/>
              <a:rect l="l" t="t" r="r" b="b"/>
              <a:pathLst>
                <a:path w="5100711" h="2108018">
                  <a:moveTo>
                    <a:pt x="5089281" y="27940"/>
                  </a:moveTo>
                  <a:cubicBezTo>
                    <a:pt x="5080391" y="24130"/>
                    <a:pt x="5071501" y="21590"/>
                    <a:pt x="5062611" y="21590"/>
                  </a:cubicBezTo>
                  <a:cubicBezTo>
                    <a:pt x="5035941" y="20320"/>
                    <a:pt x="4960707" y="20320"/>
                    <a:pt x="4876669" y="17780"/>
                  </a:cubicBezTo>
                  <a:cubicBezTo>
                    <a:pt x="4684582" y="12700"/>
                    <a:pt x="4496497" y="6350"/>
                    <a:pt x="4304410" y="3810"/>
                  </a:cubicBezTo>
                  <a:cubicBezTo>
                    <a:pt x="4148339" y="1270"/>
                    <a:pt x="3996271" y="3810"/>
                    <a:pt x="3840200" y="2540"/>
                  </a:cubicBezTo>
                  <a:cubicBezTo>
                    <a:pt x="3772169" y="2540"/>
                    <a:pt x="3704138" y="0"/>
                    <a:pt x="3636108" y="2540"/>
                  </a:cubicBezTo>
                  <a:cubicBezTo>
                    <a:pt x="3472033" y="10160"/>
                    <a:pt x="3307959" y="11430"/>
                    <a:pt x="3139883" y="8890"/>
                  </a:cubicBezTo>
                  <a:cubicBezTo>
                    <a:pt x="3055845" y="7620"/>
                    <a:pt x="2971807" y="7620"/>
                    <a:pt x="2887769" y="7620"/>
                  </a:cubicBezTo>
                  <a:cubicBezTo>
                    <a:pt x="2735700" y="7620"/>
                    <a:pt x="2583631" y="7620"/>
                    <a:pt x="2431562" y="6350"/>
                  </a:cubicBezTo>
                  <a:cubicBezTo>
                    <a:pt x="2271490" y="5080"/>
                    <a:pt x="694776" y="2540"/>
                    <a:pt x="538705" y="1270"/>
                  </a:cubicBezTo>
                  <a:cubicBezTo>
                    <a:pt x="410648" y="0"/>
                    <a:pt x="286591" y="1270"/>
                    <a:pt x="158533" y="1270"/>
                  </a:cubicBezTo>
                  <a:cubicBezTo>
                    <a:pt x="70493" y="1270"/>
                    <a:pt x="33020" y="3810"/>
                    <a:pt x="5080" y="5080"/>
                  </a:cubicBezTo>
                  <a:cubicBezTo>
                    <a:pt x="3810" y="5080"/>
                    <a:pt x="2540" y="7620"/>
                    <a:pt x="0" y="8890"/>
                  </a:cubicBezTo>
                  <a:cubicBezTo>
                    <a:pt x="1270" y="21590"/>
                    <a:pt x="3810" y="34290"/>
                    <a:pt x="5080" y="46990"/>
                  </a:cubicBezTo>
                  <a:cubicBezTo>
                    <a:pt x="15240" y="131333"/>
                    <a:pt x="16510" y="222056"/>
                    <a:pt x="17780" y="311187"/>
                  </a:cubicBezTo>
                  <a:cubicBezTo>
                    <a:pt x="19050" y="401910"/>
                    <a:pt x="17780" y="492632"/>
                    <a:pt x="16510" y="584947"/>
                  </a:cubicBezTo>
                  <a:cubicBezTo>
                    <a:pt x="15240" y="678853"/>
                    <a:pt x="2540" y="1664070"/>
                    <a:pt x="2540" y="1757976"/>
                  </a:cubicBezTo>
                  <a:cubicBezTo>
                    <a:pt x="2540" y="1850290"/>
                    <a:pt x="1270" y="1942604"/>
                    <a:pt x="0" y="2034919"/>
                  </a:cubicBezTo>
                  <a:cubicBezTo>
                    <a:pt x="0" y="2053408"/>
                    <a:pt x="3810" y="2063568"/>
                    <a:pt x="15240" y="2068648"/>
                  </a:cubicBezTo>
                  <a:cubicBezTo>
                    <a:pt x="22860" y="2072458"/>
                    <a:pt x="31750" y="2074998"/>
                    <a:pt x="40640" y="2076268"/>
                  </a:cubicBezTo>
                  <a:cubicBezTo>
                    <a:pt x="154531" y="2081348"/>
                    <a:pt x="306600" y="2085158"/>
                    <a:pt x="458669" y="2090238"/>
                  </a:cubicBezTo>
                  <a:cubicBezTo>
                    <a:pt x="542707" y="2092778"/>
                    <a:pt x="626745" y="2097858"/>
                    <a:pt x="710783" y="2099128"/>
                  </a:cubicBezTo>
                  <a:cubicBezTo>
                    <a:pt x="850847" y="2101668"/>
                    <a:pt x="2411553" y="2102938"/>
                    <a:pt x="2551617" y="2104208"/>
                  </a:cubicBezTo>
                  <a:cubicBezTo>
                    <a:pt x="2571626" y="2104208"/>
                    <a:pt x="2591635" y="2104208"/>
                    <a:pt x="2611644" y="2104208"/>
                  </a:cubicBezTo>
                  <a:cubicBezTo>
                    <a:pt x="2707687" y="2104208"/>
                    <a:pt x="2807732" y="2102938"/>
                    <a:pt x="2903776" y="2102938"/>
                  </a:cubicBezTo>
                  <a:cubicBezTo>
                    <a:pt x="3015827" y="2102938"/>
                    <a:pt x="3123875" y="2104208"/>
                    <a:pt x="3235926" y="2104208"/>
                  </a:cubicBezTo>
                  <a:cubicBezTo>
                    <a:pt x="3400001" y="2104208"/>
                    <a:pt x="3568077" y="2104208"/>
                    <a:pt x="3732151" y="2104208"/>
                  </a:cubicBezTo>
                  <a:cubicBezTo>
                    <a:pt x="3884220" y="2104208"/>
                    <a:pt x="4036289" y="2105478"/>
                    <a:pt x="4188358" y="2106748"/>
                  </a:cubicBezTo>
                  <a:cubicBezTo>
                    <a:pt x="4256388" y="2106748"/>
                    <a:pt x="4328421" y="2108018"/>
                    <a:pt x="4396451" y="2108018"/>
                  </a:cubicBezTo>
                  <a:cubicBezTo>
                    <a:pt x="4616551" y="2106748"/>
                    <a:pt x="4832649" y="2100398"/>
                    <a:pt x="5039751" y="2100398"/>
                  </a:cubicBezTo>
                  <a:cubicBezTo>
                    <a:pt x="5043561" y="2100398"/>
                    <a:pt x="5048641" y="2097858"/>
                    <a:pt x="5052451" y="2095318"/>
                  </a:cubicBezTo>
                  <a:cubicBezTo>
                    <a:pt x="5057531" y="2091508"/>
                    <a:pt x="5060071" y="2085158"/>
                    <a:pt x="5062611" y="2082618"/>
                  </a:cubicBezTo>
                  <a:cubicBezTo>
                    <a:pt x="5063881" y="2023777"/>
                    <a:pt x="5065151" y="1956929"/>
                    <a:pt x="5066421" y="1890080"/>
                  </a:cubicBezTo>
                  <a:cubicBezTo>
                    <a:pt x="5067691" y="1786625"/>
                    <a:pt x="5077851" y="793450"/>
                    <a:pt x="5079121" y="689994"/>
                  </a:cubicBezTo>
                  <a:cubicBezTo>
                    <a:pt x="5079121" y="627920"/>
                    <a:pt x="5080391" y="565847"/>
                    <a:pt x="5081661" y="503774"/>
                  </a:cubicBezTo>
                  <a:cubicBezTo>
                    <a:pt x="5082931" y="436925"/>
                    <a:pt x="5084201" y="370077"/>
                    <a:pt x="5086741" y="303229"/>
                  </a:cubicBezTo>
                  <a:cubicBezTo>
                    <a:pt x="5088011" y="263438"/>
                    <a:pt x="5088011" y="222056"/>
                    <a:pt x="5093091" y="182265"/>
                  </a:cubicBezTo>
                  <a:cubicBezTo>
                    <a:pt x="5098171" y="134516"/>
                    <a:pt x="5100711" y="88359"/>
                    <a:pt x="5099441" y="44450"/>
                  </a:cubicBezTo>
                  <a:cubicBezTo>
                    <a:pt x="5099441" y="38100"/>
                    <a:pt x="5095631" y="30480"/>
                    <a:pt x="5089281" y="2794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3559792" y="7094115"/>
            <a:ext cx="4983341" cy="517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5"/>
              </a:lnSpc>
            </a:pPr>
            <a:r>
              <a:rPr lang="en-US" sz="2742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Base de datos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634751" y="7888110"/>
            <a:ext cx="4833422" cy="1457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31"/>
              </a:lnSpc>
            </a:pPr>
            <a:r>
              <a:rPr lang="en-US" sz="4070" b="1">
                <a:solidFill>
                  <a:srgbClr val="69372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PostgreSQL (Docker)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9240998" y="7440263"/>
            <a:ext cx="5559921" cy="2299757"/>
            <a:chOff x="0" y="0"/>
            <a:chExt cx="5099441" cy="2109288"/>
          </a:xfrm>
        </p:grpSpPr>
        <p:sp>
          <p:nvSpPr>
            <p:cNvPr id="20" name="Freeform 20"/>
            <p:cNvSpPr/>
            <p:nvPr/>
          </p:nvSpPr>
          <p:spPr>
            <a:xfrm>
              <a:off x="0" y="-1270"/>
              <a:ext cx="5100711" cy="2108018"/>
            </a:xfrm>
            <a:custGeom>
              <a:avLst/>
              <a:gdLst/>
              <a:ahLst/>
              <a:cxnLst/>
              <a:rect l="l" t="t" r="r" b="b"/>
              <a:pathLst>
                <a:path w="5100711" h="2108018">
                  <a:moveTo>
                    <a:pt x="5089281" y="27940"/>
                  </a:moveTo>
                  <a:cubicBezTo>
                    <a:pt x="5080391" y="24130"/>
                    <a:pt x="5071501" y="21590"/>
                    <a:pt x="5062611" y="21590"/>
                  </a:cubicBezTo>
                  <a:cubicBezTo>
                    <a:pt x="5035941" y="20320"/>
                    <a:pt x="4960707" y="20320"/>
                    <a:pt x="4876669" y="17780"/>
                  </a:cubicBezTo>
                  <a:cubicBezTo>
                    <a:pt x="4684582" y="12700"/>
                    <a:pt x="4496497" y="6350"/>
                    <a:pt x="4304410" y="3810"/>
                  </a:cubicBezTo>
                  <a:cubicBezTo>
                    <a:pt x="4148339" y="1270"/>
                    <a:pt x="3996271" y="3810"/>
                    <a:pt x="3840200" y="2540"/>
                  </a:cubicBezTo>
                  <a:cubicBezTo>
                    <a:pt x="3772169" y="2540"/>
                    <a:pt x="3704138" y="0"/>
                    <a:pt x="3636108" y="2540"/>
                  </a:cubicBezTo>
                  <a:cubicBezTo>
                    <a:pt x="3472033" y="10160"/>
                    <a:pt x="3307959" y="11430"/>
                    <a:pt x="3139883" y="8890"/>
                  </a:cubicBezTo>
                  <a:cubicBezTo>
                    <a:pt x="3055845" y="7620"/>
                    <a:pt x="2971807" y="7620"/>
                    <a:pt x="2887769" y="7620"/>
                  </a:cubicBezTo>
                  <a:cubicBezTo>
                    <a:pt x="2735700" y="7620"/>
                    <a:pt x="2583631" y="7620"/>
                    <a:pt x="2431562" y="6350"/>
                  </a:cubicBezTo>
                  <a:cubicBezTo>
                    <a:pt x="2271490" y="5080"/>
                    <a:pt x="694776" y="2540"/>
                    <a:pt x="538705" y="1270"/>
                  </a:cubicBezTo>
                  <a:cubicBezTo>
                    <a:pt x="410648" y="0"/>
                    <a:pt x="286591" y="1270"/>
                    <a:pt x="158533" y="1270"/>
                  </a:cubicBezTo>
                  <a:cubicBezTo>
                    <a:pt x="70493" y="1270"/>
                    <a:pt x="33020" y="3810"/>
                    <a:pt x="5080" y="5080"/>
                  </a:cubicBezTo>
                  <a:cubicBezTo>
                    <a:pt x="3810" y="5080"/>
                    <a:pt x="2540" y="7620"/>
                    <a:pt x="0" y="8890"/>
                  </a:cubicBezTo>
                  <a:cubicBezTo>
                    <a:pt x="1270" y="21590"/>
                    <a:pt x="3810" y="34290"/>
                    <a:pt x="5080" y="46990"/>
                  </a:cubicBezTo>
                  <a:cubicBezTo>
                    <a:pt x="15240" y="131333"/>
                    <a:pt x="16510" y="222056"/>
                    <a:pt x="17780" y="311187"/>
                  </a:cubicBezTo>
                  <a:cubicBezTo>
                    <a:pt x="19050" y="401910"/>
                    <a:pt x="17780" y="492632"/>
                    <a:pt x="16510" y="584947"/>
                  </a:cubicBezTo>
                  <a:cubicBezTo>
                    <a:pt x="15240" y="678853"/>
                    <a:pt x="2540" y="1664070"/>
                    <a:pt x="2540" y="1757976"/>
                  </a:cubicBezTo>
                  <a:cubicBezTo>
                    <a:pt x="2540" y="1850290"/>
                    <a:pt x="1270" y="1942604"/>
                    <a:pt x="0" y="2034919"/>
                  </a:cubicBezTo>
                  <a:cubicBezTo>
                    <a:pt x="0" y="2053408"/>
                    <a:pt x="3810" y="2063568"/>
                    <a:pt x="15240" y="2068648"/>
                  </a:cubicBezTo>
                  <a:cubicBezTo>
                    <a:pt x="22860" y="2072458"/>
                    <a:pt x="31750" y="2074998"/>
                    <a:pt x="40640" y="2076268"/>
                  </a:cubicBezTo>
                  <a:cubicBezTo>
                    <a:pt x="154531" y="2081348"/>
                    <a:pt x="306600" y="2085158"/>
                    <a:pt x="458669" y="2090238"/>
                  </a:cubicBezTo>
                  <a:cubicBezTo>
                    <a:pt x="542707" y="2092778"/>
                    <a:pt x="626745" y="2097858"/>
                    <a:pt x="710783" y="2099128"/>
                  </a:cubicBezTo>
                  <a:cubicBezTo>
                    <a:pt x="850847" y="2101668"/>
                    <a:pt x="2411553" y="2102938"/>
                    <a:pt x="2551617" y="2104208"/>
                  </a:cubicBezTo>
                  <a:cubicBezTo>
                    <a:pt x="2571626" y="2104208"/>
                    <a:pt x="2591635" y="2104208"/>
                    <a:pt x="2611644" y="2104208"/>
                  </a:cubicBezTo>
                  <a:cubicBezTo>
                    <a:pt x="2707687" y="2104208"/>
                    <a:pt x="2807732" y="2102938"/>
                    <a:pt x="2903776" y="2102938"/>
                  </a:cubicBezTo>
                  <a:cubicBezTo>
                    <a:pt x="3015827" y="2102938"/>
                    <a:pt x="3123875" y="2104208"/>
                    <a:pt x="3235926" y="2104208"/>
                  </a:cubicBezTo>
                  <a:cubicBezTo>
                    <a:pt x="3400001" y="2104208"/>
                    <a:pt x="3568077" y="2104208"/>
                    <a:pt x="3732151" y="2104208"/>
                  </a:cubicBezTo>
                  <a:cubicBezTo>
                    <a:pt x="3884220" y="2104208"/>
                    <a:pt x="4036289" y="2105478"/>
                    <a:pt x="4188358" y="2106748"/>
                  </a:cubicBezTo>
                  <a:cubicBezTo>
                    <a:pt x="4256388" y="2106748"/>
                    <a:pt x="4328421" y="2108018"/>
                    <a:pt x="4396451" y="2108018"/>
                  </a:cubicBezTo>
                  <a:cubicBezTo>
                    <a:pt x="4616551" y="2106748"/>
                    <a:pt x="4832649" y="2100398"/>
                    <a:pt x="5039751" y="2100398"/>
                  </a:cubicBezTo>
                  <a:cubicBezTo>
                    <a:pt x="5043561" y="2100398"/>
                    <a:pt x="5048641" y="2097858"/>
                    <a:pt x="5052451" y="2095318"/>
                  </a:cubicBezTo>
                  <a:cubicBezTo>
                    <a:pt x="5057531" y="2091508"/>
                    <a:pt x="5060071" y="2085158"/>
                    <a:pt x="5062611" y="2082618"/>
                  </a:cubicBezTo>
                  <a:cubicBezTo>
                    <a:pt x="5063881" y="2023777"/>
                    <a:pt x="5065151" y="1956929"/>
                    <a:pt x="5066421" y="1890080"/>
                  </a:cubicBezTo>
                  <a:cubicBezTo>
                    <a:pt x="5067691" y="1786625"/>
                    <a:pt x="5077851" y="793450"/>
                    <a:pt x="5079121" y="689994"/>
                  </a:cubicBezTo>
                  <a:cubicBezTo>
                    <a:pt x="5079121" y="627920"/>
                    <a:pt x="5080391" y="565847"/>
                    <a:pt x="5081661" y="503774"/>
                  </a:cubicBezTo>
                  <a:cubicBezTo>
                    <a:pt x="5082931" y="436925"/>
                    <a:pt x="5084201" y="370077"/>
                    <a:pt x="5086741" y="303229"/>
                  </a:cubicBezTo>
                  <a:cubicBezTo>
                    <a:pt x="5088011" y="263438"/>
                    <a:pt x="5088011" y="222056"/>
                    <a:pt x="5093091" y="182265"/>
                  </a:cubicBezTo>
                  <a:cubicBezTo>
                    <a:pt x="5098171" y="134516"/>
                    <a:pt x="5100711" y="88359"/>
                    <a:pt x="5099441" y="44450"/>
                  </a:cubicBezTo>
                  <a:cubicBezTo>
                    <a:pt x="5099441" y="38100"/>
                    <a:pt x="5095631" y="30480"/>
                    <a:pt x="5089281" y="2794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9529288" y="7138021"/>
            <a:ext cx="4983341" cy="517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5"/>
              </a:lnSpc>
            </a:pPr>
            <a:r>
              <a:rPr lang="en-US" sz="2742" b="1">
                <a:solidFill>
                  <a:srgbClr val="FFFFFF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Control de versiones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604247" y="8226278"/>
            <a:ext cx="4833422" cy="781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37"/>
              </a:lnSpc>
            </a:pPr>
            <a:r>
              <a:rPr lang="en-US" sz="4074" b="1">
                <a:solidFill>
                  <a:srgbClr val="69372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Git + GitHub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751017" y="2499163"/>
            <a:ext cx="12785965" cy="6759137"/>
            <a:chOff x="0" y="0"/>
            <a:chExt cx="5099441" cy="2695754"/>
          </a:xfrm>
        </p:grpSpPr>
        <p:sp>
          <p:nvSpPr>
            <p:cNvPr id="3" name="Freeform 3"/>
            <p:cNvSpPr/>
            <p:nvPr/>
          </p:nvSpPr>
          <p:spPr>
            <a:xfrm>
              <a:off x="0" y="-1270"/>
              <a:ext cx="5100711" cy="2694484"/>
            </a:xfrm>
            <a:custGeom>
              <a:avLst/>
              <a:gdLst/>
              <a:ahLst/>
              <a:cxnLst/>
              <a:rect l="l" t="t" r="r" b="b"/>
              <a:pathLst>
                <a:path w="5100711" h="2694484">
                  <a:moveTo>
                    <a:pt x="5089281" y="27940"/>
                  </a:moveTo>
                  <a:cubicBezTo>
                    <a:pt x="5080391" y="24130"/>
                    <a:pt x="5071501" y="21590"/>
                    <a:pt x="5062611" y="21590"/>
                  </a:cubicBezTo>
                  <a:cubicBezTo>
                    <a:pt x="5035941" y="20320"/>
                    <a:pt x="4960707" y="20320"/>
                    <a:pt x="4876669" y="17780"/>
                  </a:cubicBezTo>
                  <a:cubicBezTo>
                    <a:pt x="4684582" y="12700"/>
                    <a:pt x="4496497" y="6350"/>
                    <a:pt x="4304410" y="3810"/>
                  </a:cubicBezTo>
                  <a:cubicBezTo>
                    <a:pt x="4148339" y="1270"/>
                    <a:pt x="3996271" y="3810"/>
                    <a:pt x="3840200" y="2540"/>
                  </a:cubicBezTo>
                  <a:cubicBezTo>
                    <a:pt x="3772169" y="2540"/>
                    <a:pt x="3704138" y="0"/>
                    <a:pt x="3636108" y="2540"/>
                  </a:cubicBezTo>
                  <a:cubicBezTo>
                    <a:pt x="3472033" y="10160"/>
                    <a:pt x="3307959" y="11430"/>
                    <a:pt x="3139883" y="8890"/>
                  </a:cubicBezTo>
                  <a:cubicBezTo>
                    <a:pt x="3055845" y="7620"/>
                    <a:pt x="2971807" y="7620"/>
                    <a:pt x="2887769" y="7620"/>
                  </a:cubicBezTo>
                  <a:cubicBezTo>
                    <a:pt x="2735700" y="7620"/>
                    <a:pt x="2583631" y="7620"/>
                    <a:pt x="2431562" y="6350"/>
                  </a:cubicBezTo>
                  <a:cubicBezTo>
                    <a:pt x="2271490" y="5080"/>
                    <a:pt x="694776" y="2540"/>
                    <a:pt x="538705" y="1270"/>
                  </a:cubicBezTo>
                  <a:cubicBezTo>
                    <a:pt x="410648" y="0"/>
                    <a:pt x="286591" y="1270"/>
                    <a:pt x="158533" y="1270"/>
                  </a:cubicBezTo>
                  <a:cubicBezTo>
                    <a:pt x="70493" y="1270"/>
                    <a:pt x="33020" y="3810"/>
                    <a:pt x="5080" y="5080"/>
                  </a:cubicBezTo>
                  <a:cubicBezTo>
                    <a:pt x="3810" y="5080"/>
                    <a:pt x="2540" y="7620"/>
                    <a:pt x="0" y="8890"/>
                  </a:cubicBezTo>
                  <a:cubicBezTo>
                    <a:pt x="1270" y="21590"/>
                    <a:pt x="3810" y="34290"/>
                    <a:pt x="5080" y="46990"/>
                  </a:cubicBezTo>
                  <a:cubicBezTo>
                    <a:pt x="15240" y="150726"/>
                    <a:pt x="16510" y="268337"/>
                    <a:pt x="17780" y="383884"/>
                  </a:cubicBezTo>
                  <a:cubicBezTo>
                    <a:pt x="19050" y="501494"/>
                    <a:pt x="17780" y="619105"/>
                    <a:pt x="16510" y="738779"/>
                  </a:cubicBezTo>
                  <a:cubicBezTo>
                    <a:pt x="15240" y="860516"/>
                    <a:pt x="2540" y="2137724"/>
                    <a:pt x="2540" y="2259461"/>
                  </a:cubicBezTo>
                  <a:cubicBezTo>
                    <a:pt x="2540" y="2379134"/>
                    <a:pt x="1270" y="2498808"/>
                    <a:pt x="0" y="2618482"/>
                  </a:cubicBezTo>
                  <a:cubicBezTo>
                    <a:pt x="0" y="2639874"/>
                    <a:pt x="3810" y="2650034"/>
                    <a:pt x="15240" y="2655114"/>
                  </a:cubicBezTo>
                  <a:cubicBezTo>
                    <a:pt x="22860" y="2658924"/>
                    <a:pt x="31750" y="2661464"/>
                    <a:pt x="40640" y="2662734"/>
                  </a:cubicBezTo>
                  <a:cubicBezTo>
                    <a:pt x="154531" y="2667814"/>
                    <a:pt x="306600" y="2671624"/>
                    <a:pt x="458669" y="2676704"/>
                  </a:cubicBezTo>
                  <a:cubicBezTo>
                    <a:pt x="542707" y="2679244"/>
                    <a:pt x="626745" y="2684324"/>
                    <a:pt x="710783" y="2685594"/>
                  </a:cubicBezTo>
                  <a:cubicBezTo>
                    <a:pt x="850847" y="2688134"/>
                    <a:pt x="2411553" y="2689404"/>
                    <a:pt x="2551617" y="2690674"/>
                  </a:cubicBezTo>
                  <a:cubicBezTo>
                    <a:pt x="2571626" y="2690674"/>
                    <a:pt x="2591635" y="2690674"/>
                    <a:pt x="2611644" y="2690674"/>
                  </a:cubicBezTo>
                  <a:cubicBezTo>
                    <a:pt x="2707687" y="2690674"/>
                    <a:pt x="2807732" y="2689404"/>
                    <a:pt x="2903776" y="2689404"/>
                  </a:cubicBezTo>
                  <a:cubicBezTo>
                    <a:pt x="3015827" y="2689404"/>
                    <a:pt x="3123875" y="2690674"/>
                    <a:pt x="3235926" y="2690674"/>
                  </a:cubicBezTo>
                  <a:cubicBezTo>
                    <a:pt x="3400001" y="2690674"/>
                    <a:pt x="3568077" y="2690674"/>
                    <a:pt x="3732151" y="2690674"/>
                  </a:cubicBezTo>
                  <a:cubicBezTo>
                    <a:pt x="3884220" y="2690674"/>
                    <a:pt x="4036289" y="2691944"/>
                    <a:pt x="4188358" y="2693214"/>
                  </a:cubicBezTo>
                  <a:cubicBezTo>
                    <a:pt x="4256388" y="2693214"/>
                    <a:pt x="4328421" y="2694484"/>
                    <a:pt x="4396451" y="2694484"/>
                  </a:cubicBezTo>
                  <a:cubicBezTo>
                    <a:pt x="4616551" y="2693214"/>
                    <a:pt x="4832649" y="2686864"/>
                    <a:pt x="5039751" y="2686864"/>
                  </a:cubicBezTo>
                  <a:cubicBezTo>
                    <a:pt x="5043561" y="2686864"/>
                    <a:pt x="5048641" y="2684324"/>
                    <a:pt x="5052451" y="2681784"/>
                  </a:cubicBezTo>
                  <a:cubicBezTo>
                    <a:pt x="5057531" y="2677974"/>
                    <a:pt x="5060071" y="2671624"/>
                    <a:pt x="5062611" y="2669084"/>
                  </a:cubicBezTo>
                  <a:cubicBezTo>
                    <a:pt x="5063881" y="2604038"/>
                    <a:pt x="5065151" y="2517378"/>
                    <a:pt x="5066421" y="2430718"/>
                  </a:cubicBezTo>
                  <a:cubicBezTo>
                    <a:pt x="5067691" y="2296601"/>
                    <a:pt x="5077851" y="1009076"/>
                    <a:pt x="5079121" y="874959"/>
                  </a:cubicBezTo>
                  <a:cubicBezTo>
                    <a:pt x="5079121" y="794489"/>
                    <a:pt x="5080391" y="714018"/>
                    <a:pt x="5081661" y="633548"/>
                  </a:cubicBezTo>
                  <a:cubicBezTo>
                    <a:pt x="5082931" y="546888"/>
                    <a:pt x="5084201" y="460227"/>
                    <a:pt x="5086741" y="373567"/>
                  </a:cubicBezTo>
                  <a:cubicBezTo>
                    <a:pt x="5088011" y="321984"/>
                    <a:pt x="5088011" y="268337"/>
                    <a:pt x="5093091" y="216753"/>
                  </a:cubicBezTo>
                  <a:cubicBezTo>
                    <a:pt x="5098171" y="154853"/>
                    <a:pt x="5100711" y="95016"/>
                    <a:pt x="5099441" y="44450"/>
                  </a:cubicBezTo>
                  <a:cubicBezTo>
                    <a:pt x="5099441" y="38100"/>
                    <a:pt x="5095631" y="30480"/>
                    <a:pt x="5089281" y="27940"/>
                  </a:cubicBezTo>
                  <a:close/>
                </a:path>
              </a:pathLst>
            </a:custGeom>
            <a:solidFill>
              <a:srgbClr val="F48A6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Freeform 4"/>
          <p:cNvSpPr/>
          <p:nvPr/>
        </p:nvSpPr>
        <p:spPr>
          <a:xfrm rot="6835262">
            <a:off x="15917045" y="-1003544"/>
            <a:ext cx="3137535" cy="4114800"/>
          </a:xfrm>
          <a:custGeom>
            <a:avLst/>
            <a:gdLst/>
            <a:ahLst/>
            <a:cxnLst/>
            <a:rect l="l" t="t" r="r" b="b"/>
            <a:pathLst>
              <a:path w="3137535" h="4114800">
                <a:moveTo>
                  <a:pt x="0" y="0"/>
                </a:moveTo>
                <a:lnTo>
                  <a:pt x="3137535" y="0"/>
                </a:lnTo>
                <a:lnTo>
                  <a:pt x="313753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 rot="6835262">
            <a:off x="-540067" y="-390848"/>
            <a:ext cx="3137535" cy="4114800"/>
          </a:xfrm>
          <a:custGeom>
            <a:avLst/>
            <a:gdLst/>
            <a:ahLst/>
            <a:cxnLst/>
            <a:rect l="l" t="t" r="r" b="b"/>
            <a:pathLst>
              <a:path w="3137535" h="4114800">
                <a:moveTo>
                  <a:pt x="0" y="0"/>
                </a:moveTo>
                <a:lnTo>
                  <a:pt x="3137534" y="0"/>
                </a:lnTo>
                <a:lnTo>
                  <a:pt x="313753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5080200" y="2401426"/>
            <a:ext cx="5901167" cy="10336438"/>
          </a:xfrm>
          <a:custGeom>
            <a:avLst/>
            <a:gdLst/>
            <a:ahLst/>
            <a:cxnLst/>
            <a:rect l="l" t="t" r="r" b="b"/>
            <a:pathLst>
              <a:path w="5901167" h="10336438">
                <a:moveTo>
                  <a:pt x="0" y="0"/>
                </a:moveTo>
                <a:lnTo>
                  <a:pt x="5901167" y="0"/>
                </a:lnTo>
                <a:lnTo>
                  <a:pt x="5901167" y="10336438"/>
                </a:lnTo>
                <a:lnTo>
                  <a:pt x="0" y="103364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 rot="583687">
            <a:off x="7198822" y="8229600"/>
            <a:ext cx="3890356" cy="4114800"/>
          </a:xfrm>
          <a:custGeom>
            <a:avLst/>
            <a:gdLst/>
            <a:ahLst/>
            <a:cxnLst/>
            <a:rect l="l" t="t" r="r" b="b"/>
            <a:pathLst>
              <a:path w="3890356" h="4114800">
                <a:moveTo>
                  <a:pt x="0" y="0"/>
                </a:moveTo>
                <a:lnTo>
                  <a:pt x="3890356" y="0"/>
                </a:lnTo>
                <a:lnTo>
                  <a:pt x="389035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 rot="579840">
            <a:off x="8126553" y="150471"/>
            <a:ext cx="1995754" cy="2401892"/>
          </a:xfrm>
          <a:custGeom>
            <a:avLst/>
            <a:gdLst/>
            <a:ahLst/>
            <a:cxnLst/>
            <a:rect l="l" t="t" r="r" b="b"/>
            <a:pathLst>
              <a:path w="1995754" h="2401892">
                <a:moveTo>
                  <a:pt x="0" y="0"/>
                </a:moveTo>
                <a:lnTo>
                  <a:pt x="1995754" y="0"/>
                </a:lnTo>
                <a:lnTo>
                  <a:pt x="1995754" y="2401893"/>
                </a:lnTo>
                <a:lnTo>
                  <a:pt x="0" y="240189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-1488080" y="2401426"/>
            <a:ext cx="4964882" cy="9012162"/>
          </a:xfrm>
          <a:custGeom>
            <a:avLst/>
            <a:gdLst/>
            <a:ahLst/>
            <a:cxnLst/>
            <a:rect l="l" t="t" r="r" b="b"/>
            <a:pathLst>
              <a:path w="4964882" h="9012162">
                <a:moveTo>
                  <a:pt x="0" y="0"/>
                </a:moveTo>
                <a:lnTo>
                  <a:pt x="4964883" y="0"/>
                </a:lnTo>
                <a:lnTo>
                  <a:pt x="4964883" y="9012162"/>
                </a:lnTo>
                <a:lnTo>
                  <a:pt x="0" y="90121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3168660" y="2990976"/>
            <a:ext cx="11911541" cy="939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07"/>
              </a:lnSpc>
            </a:pPr>
            <a:r>
              <a:rPr lang="en-US" sz="7648">
                <a:solidFill>
                  <a:srgbClr val="FFFFF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CONCLUSIONES PARCIALES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168660" y="4062868"/>
            <a:ext cx="11911541" cy="4539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9078" lvl="1" indent="-324539" algn="just">
              <a:lnSpc>
                <a:spcPts val="3938"/>
              </a:lnSpc>
              <a:buFont typeface="Arial"/>
              <a:buChar char="•"/>
            </a:pPr>
            <a:r>
              <a:rPr lang="en-US" sz="3006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El sistema facilita el acceso a tutorías, centraliza la información y mejora la experiencia académica.</a:t>
            </a:r>
          </a:p>
          <a:p>
            <a:pPr algn="just">
              <a:lnSpc>
                <a:spcPts val="3938"/>
              </a:lnSpc>
            </a:pPr>
            <a:endParaRPr lang="en-US" sz="3006" b="1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marL="649078" lvl="1" indent="-324539" algn="just">
              <a:lnSpc>
                <a:spcPts val="3938"/>
              </a:lnSpc>
              <a:buFont typeface="Arial"/>
              <a:buChar char="•"/>
            </a:pPr>
            <a:r>
              <a:rPr lang="en-US" sz="3006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El uso de metodologías ágiles y herramientas modernas permite un desarrollo estructurado y colaborativo.</a:t>
            </a:r>
          </a:p>
          <a:p>
            <a:pPr algn="just">
              <a:lnSpc>
                <a:spcPts val="3938"/>
              </a:lnSpc>
            </a:pPr>
            <a:endParaRPr lang="en-US" sz="3006" b="1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marL="649078" lvl="1" indent="-324539" algn="just">
              <a:lnSpc>
                <a:spcPts val="3938"/>
              </a:lnSpc>
              <a:buFont typeface="Arial"/>
              <a:buChar char="•"/>
            </a:pPr>
            <a:r>
              <a:rPr lang="en-US" sz="3006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Se espera un impacto positivo en la retención y rendimiento académico.</a:t>
            </a:r>
          </a:p>
          <a:p>
            <a:pPr algn="just">
              <a:lnSpc>
                <a:spcPts val="3938"/>
              </a:lnSpc>
            </a:pPr>
            <a:endParaRPr lang="en-US" sz="3006" b="1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8A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377554" y="3125644"/>
            <a:ext cx="11781487" cy="4873191"/>
            <a:chOff x="0" y="0"/>
            <a:chExt cx="5099441" cy="2109288"/>
          </a:xfrm>
        </p:grpSpPr>
        <p:sp>
          <p:nvSpPr>
            <p:cNvPr id="3" name="Freeform 3"/>
            <p:cNvSpPr/>
            <p:nvPr/>
          </p:nvSpPr>
          <p:spPr>
            <a:xfrm>
              <a:off x="0" y="-1270"/>
              <a:ext cx="5100711" cy="2108018"/>
            </a:xfrm>
            <a:custGeom>
              <a:avLst/>
              <a:gdLst/>
              <a:ahLst/>
              <a:cxnLst/>
              <a:rect l="l" t="t" r="r" b="b"/>
              <a:pathLst>
                <a:path w="5100711" h="2108018">
                  <a:moveTo>
                    <a:pt x="5089281" y="27940"/>
                  </a:moveTo>
                  <a:cubicBezTo>
                    <a:pt x="5080391" y="24130"/>
                    <a:pt x="5071501" y="21590"/>
                    <a:pt x="5062611" y="21590"/>
                  </a:cubicBezTo>
                  <a:cubicBezTo>
                    <a:pt x="5035941" y="20320"/>
                    <a:pt x="4960707" y="20320"/>
                    <a:pt x="4876669" y="17780"/>
                  </a:cubicBezTo>
                  <a:cubicBezTo>
                    <a:pt x="4684582" y="12700"/>
                    <a:pt x="4496497" y="6350"/>
                    <a:pt x="4304410" y="3810"/>
                  </a:cubicBezTo>
                  <a:cubicBezTo>
                    <a:pt x="4148339" y="1270"/>
                    <a:pt x="3996271" y="3810"/>
                    <a:pt x="3840200" y="2540"/>
                  </a:cubicBezTo>
                  <a:cubicBezTo>
                    <a:pt x="3772169" y="2540"/>
                    <a:pt x="3704138" y="0"/>
                    <a:pt x="3636108" y="2540"/>
                  </a:cubicBezTo>
                  <a:cubicBezTo>
                    <a:pt x="3472033" y="10160"/>
                    <a:pt x="3307959" y="11430"/>
                    <a:pt x="3139883" y="8890"/>
                  </a:cubicBezTo>
                  <a:cubicBezTo>
                    <a:pt x="3055845" y="7620"/>
                    <a:pt x="2971807" y="7620"/>
                    <a:pt x="2887769" y="7620"/>
                  </a:cubicBezTo>
                  <a:cubicBezTo>
                    <a:pt x="2735700" y="7620"/>
                    <a:pt x="2583631" y="7620"/>
                    <a:pt x="2431562" y="6350"/>
                  </a:cubicBezTo>
                  <a:cubicBezTo>
                    <a:pt x="2271490" y="5080"/>
                    <a:pt x="694776" y="2540"/>
                    <a:pt x="538705" y="1270"/>
                  </a:cubicBezTo>
                  <a:cubicBezTo>
                    <a:pt x="410648" y="0"/>
                    <a:pt x="286591" y="1270"/>
                    <a:pt x="158533" y="1270"/>
                  </a:cubicBezTo>
                  <a:cubicBezTo>
                    <a:pt x="70493" y="1270"/>
                    <a:pt x="33020" y="3810"/>
                    <a:pt x="5080" y="5080"/>
                  </a:cubicBezTo>
                  <a:cubicBezTo>
                    <a:pt x="3810" y="5080"/>
                    <a:pt x="2540" y="7620"/>
                    <a:pt x="0" y="8890"/>
                  </a:cubicBezTo>
                  <a:cubicBezTo>
                    <a:pt x="1270" y="21590"/>
                    <a:pt x="3810" y="34290"/>
                    <a:pt x="5080" y="46990"/>
                  </a:cubicBezTo>
                  <a:cubicBezTo>
                    <a:pt x="15240" y="131333"/>
                    <a:pt x="16510" y="222056"/>
                    <a:pt x="17780" y="311187"/>
                  </a:cubicBezTo>
                  <a:cubicBezTo>
                    <a:pt x="19050" y="401910"/>
                    <a:pt x="17780" y="492632"/>
                    <a:pt x="16510" y="584947"/>
                  </a:cubicBezTo>
                  <a:cubicBezTo>
                    <a:pt x="15240" y="678853"/>
                    <a:pt x="2540" y="1664070"/>
                    <a:pt x="2540" y="1757976"/>
                  </a:cubicBezTo>
                  <a:cubicBezTo>
                    <a:pt x="2540" y="1850290"/>
                    <a:pt x="1270" y="1942604"/>
                    <a:pt x="0" y="2034919"/>
                  </a:cubicBezTo>
                  <a:cubicBezTo>
                    <a:pt x="0" y="2053408"/>
                    <a:pt x="3810" y="2063568"/>
                    <a:pt x="15240" y="2068648"/>
                  </a:cubicBezTo>
                  <a:cubicBezTo>
                    <a:pt x="22860" y="2072458"/>
                    <a:pt x="31750" y="2074998"/>
                    <a:pt x="40640" y="2076268"/>
                  </a:cubicBezTo>
                  <a:cubicBezTo>
                    <a:pt x="154531" y="2081348"/>
                    <a:pt x="306600" y="2085158"/>
                    <a:pt x="458669" y="2090238"/>
                  </a:cubicBezTo>
                  <a:cubicBezTo>
                    <a:pt x="542707" y="2092778"/>
                    <a:pt x="626745" y="2097858"/>
                    <a:pt x="710783" y="2099128"/>
                  </a:cubicBezTo>
                  <a:cubicBezTo>
                    <a:pt x="850847" y="2101668"/>
                    <a:pt x="2411553" y="2102938"/>
                    <a:pt x="2551617" y="2104208"/>
                  </a:cubicBezTo>
                  <a:cubicBezTo>
                    <a:pt x="2571626" y="2104208"/>
                    <a:pt x="2591635" y="2104208"/>
                    <a:pt x="2611644" y="2104208"/>
                  </a:cubicBezTo>
                  <a:cubicBezTo>
                    <a:pt x="2707687" y="2104208"/>
                    <a:pt x="2807732" y="2102938"/>
                    <a:pt x="2903776" y="2102938"/>
                  </a:cubicBezTo>
                  <a:cubicBezTo>
                    <a:pt x="3015827" y="2102938"/>
                    <a:pt x="3123875" y="2104208"/>
                    <a:pt x="3235926" y="2104208"/>
                  </a:cubicBezTo>
                  <a:cubicBezTo>
                    <a:pt x="3400001" y="2104208"/>
                    <a:pt x="3568077" y="2104208"/>
                    <a:pt x="3732151" y="2104208"/>
                  </a:cubicBezTo>
                  <a:cubicBezTo>
                    <a:pt x="3884220" y="2104208"/>
                    <a:pt x="4036289" y="2105478"/>
                    <a:pt x="4188358" y="2106748"/>
                  </a:cubicBezTo>
                  <a:cubicBezTo>
                    <a:pt x="4256388" y="2106748"/>
                    <a:pt x="4328421" y="2108018"/>
                    <a:pt x="4396451" y="2108018"/>
                  </a:cubicBezTo>
                  <a:cubicBezTo>
                    <a:pt x="4616551" y="2106748"/>
                    <a:pt x="4832649" y="2100398"/>
                    <a:pt x="5039751" y="2100398"/>
                  </a:cubicBezTo>
                  <a:cubicBezTo>
                    <a:pt x="5043561" y="2100398"/>
                    <a:pt x="5048641" y="2097858"/>
                    <a:pt x="5052451" y="2095318"/>
                  </a:cubicBezTo>
                  <a:cubicBezTo>
                    <a:pt x="5057531" y="2091508"/>
                    <a:pt x="5060071" y="2085158"/>
                    <a:pt x="5062611" y="2082618"/>
                  </a:cubicBezTo>
                  <a:cubicBezTo>
                    <a:pt x="5063881" y="2023777"/>
                    <a:pt x="5065151" y="1956929"/>
                    <a:pt x="5066421" y="1890080"/>
                  </a:cubicBezTo>
                  <a:cubicBezTo>
                    <a:pt x="5067691" y="1786625"/>
                    <a:pt x="5077851" y="793450"/>
                    <a:pt x="5079121" y="689994"/>
                  </a:cubicBezTo>
                  <a:cubicBezTo>
                    <a:pt x="5079121" y="627920"/>
                    <a:pt x="5080391" y="565847"/>
                    <a:pt x="5081661" y="503774"/>
                  </a:cubicBezTo>
                  <a:cubicBezTo>
                    <a:pt x="5082931" y="436925"/>
                    <a:pt x="5084201" y="370077"/>
                    <a:pt x="5086741" y="303229"/>
                  </a:cubicBezTo>
                  <a:cubicBezTo>
                    <a:pt x="5088011" y="263438"/>
                    <a:pt x="5088011" y="222056"/>
                    <a:pt x="5093091" y="182265"/>
                  </a:cubicBezTo>
                  <a:cubicBezTo>
                    <a:pt x="5098171" y="134516"/>
                    <a:pt x="5100711" y="88359"/>
                    <a:pt x="5099441" y="44450"/>
                  </a:cubicBezTo>
                  <a:cubicBezTo>
                    <a:pt x="5099441" y="38100"/>
                    <a:pt x="5095631" y="30480"/>
                    <a:pt x="5089281" y="2794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Freeform 4"/>
          <p:cNvSpPr/>
          <p:nvPr/>
        </p:nvSpPr>
        <p:spPr>
          <a:xfrm rot="-7181295">
            <a:off x="-1394669" y="7483344"/>
            <a:ext cx="3371281" cy="3107708"/>
          </a:xfrm>
          <a:custGeom>
            <a:avLst/>
            <a:gdLst/>
            <a:ahLst/>
            <a:cxnLst/>
            <a:rect l="l" t="t" r="r" b="b"/>
            <a:pathLst>
              <a:path w="3371281" h="3107708">
                <a:moveTo>
                  <a:pt x="0" y="0"/>
                </a:moveTo>
                <a:lnTo>
                  <a:pt x="3371281" y="0"/>
                </a:lnTo>
                <a:lnTo>
                  <a:pt x="3371281" y="3107708"/>
                </a:lnTo>
                <a:lnTo>
                  <a:pt x="0" y="31077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692804" y="1726244"/>
            <a:ext cx="8451196" cy="9043109"/>
          </a:xfrm>
          <a:custGeom>
            <a:avLst/>
            <a:gdLst/>
            <a:ahLst/>
            <a:cxnLst/>
            <a:rect l="l" t="t" r="r" b="b"/>
            <a:pathLst>
              <a:path w="8451196" h="9043109">
                <a:moveTo>
                  <a:pt x="0" y="0"/>
                </a:moveTo>
                <a:lnTo>
                  <a:pt x="8451196" y="0"/>
                </a:lnTo>
                <a:lnTo>
                  <a:pt x="8451196" y="9043109"/>
                </a:lnTo>
                <a:lnTo>
                  <a:pt x="0" y="90431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 rot="1744881">
            <a:off x="15314122" y="-1459085"/>
            <a:ext cx="3890356" cy="4114800"/>
          </a:xfrm>
          <a:custGeom>
            <a:avLst/>
            <a:gdLst/>
            <a:ahLst/>
            <a:cxnLst/>
            <a:rect l="l" t="t" r="r" b="b"/>
            <a:pathLst>
              <a:path w="3890356" h="4114800">
                <a:moveTo>
                  <a:pt x="0" y="0"/>
                </a:moveTo>
                <a:lnTo>
                  <a:pt x="3890356" y="0"/>
                </a:lnTo>
                <a:lnTo>
                  <a:pt x="389035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028700" y="1028700"/>
            <a:ext cx="2894041" cy="2057400"/>
          </a:xfrm>
          <a:custGeom>
            <a:avLst/>
            <a:gdLst/>
            <a:ahLst/>
            <a:cxnLst/>
            <a:rect l="l" t="t" r="r" b="b"/>
            <a:pathLst>
              <a:path w="2894041" h="2057400">
                <a:moveTo>
                  <a:pt x="0" y="0"/>
                </a:moveTo>
                <a:lnTo>
                  <a:pt x="2894041" y="0"/>
                </a:lnTo>
                <a:lnTo>
                  <a:pt x="2894041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8764838" y="-2057400"/>
            <a:ext cx="4463787" cy="4114800"/>
          </a:xfrm>
          <a:custGeom>
            <a:avLst/>
            <a:gdLst/>
            <a:ahLst/>
            <a:cxnLst/>
            <a:rect l="l" t="t" r="r" b="b"/>
            <a:pathLst>
              <a:path w="4463787" h="4114800">
                <a:moveTo>
                  <a:pt x="0" y="0"/>
                </a:moveTo>
                <a:lnTo>
                  <a:pt x="4463787" y="0"/>
                </a:lnTo>
                <a:lnTo>
                  <a:pt x="446378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 rot="6835262">
            <a:off x="15590274" y="5941434"/>
            <a:ext cx="3137535" cy="4114800"/>
          </a:xfrm>
          <a:custGeom>
            <a:avLst/>
            <a:gdLst/>
            <a:ahLst/>
            <a:cxnLst/>
            <a:rect l="l" t="t" r="r" b="b"/>
            <a:pathLst>
              <a:path w="3137535" h="4114800">
                <a:moveTo>
                  <a:pt x="0" y="0"/>
                </a:moveTo>
                <a:lnTo>
                  <a:pt x="3137535" y="0"/>
                </a:lnTo>
                <a:lnTo>
                  <a:pt x="313753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9357956" y="4274885"/>
            <a:ext cx="6742805" cy="1975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56"/>
              </a:lnSpc>
            </a:pPr>
            <a:r>
              <a:rPr lang="en-US" sz="8378">
                <a:solidFill>
                  <a:srgbClr val="F48A6F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ENLACE AL REPOSITORIO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357956" y="6340680"/>
            <a:ext cx="7214387" cy="829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1"/>
              </a:lnSpc>
            </a:pPr>
            <a:r>
              <a:rPr lang="en-US" sz="2306" b="1">
                <a:solidFill>
                  <a:srgbClr val="693729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https://github.com/elcruzp/analisis-sistemas-2025-a-g1/tree/feature/project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8A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6164412" y="1252510"/>
            <a:ext cx="14993794" cy="7781979"/>
          </a:xfrm>
          <a:custGeom>
            <a:avLst/>
            <a:gdLst/>
            <a:ahLst/>
            <a:cxnLst/>
            <a:rect l="l" t="t" r="r" b="b"/>
            <a:pathLst>
              <a:path w="14993794" h="7781979">
                <a:moveTo>
                  <a:pt x="0" y="0"/>
                </a:moveTo>
                <a:lnTo>
                  <a:pt x="14993794" y="0"/>
                </a:lnTo>
                <a:lnTo>
                  <a:pt x="14993794" y="7781980"/>
                </a:lnTo>
                <a:lnTo>
                  <a:pt x="0" y="77819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6457780" y="3661488"/>
            <a:ext cx="12224124" cy="14973871"/>
          </a:xfrm>
          <a:custGeom>
            <a:avLst/>
            <a:gdLst/>
            <a:ahLst/>
            <a:cxnLst/>
            <a:rect l="l" t="t" r="r" b="b"/>
            <a:pathLst>
              <a:path w="12224124" h="14973871">
                <a:moveTo>
                  <a:pt x="0" y="0"/>
                </a:moveTo>
                <a:lnTo>
                  <a:pt x="12224124" y="0"/>
                </a:lnTo>
                <a:lnTo>
                  <a:pt x="12224124" y="14973871"/>
                </a:lnTo>
                <a:lnTo>
                  <a:pt x="0" y="149738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332485" y="3376227"/>
            <a:ext cx="6958963" cy="35121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83"/>
              </a:lnSpc>
            </a:pPr>
            <a:r>
              <a:rPr lang="en-US" sz="14925">
                <a:solidFill>
                  <a:srgbClr val="000000"/>
                </a:solidFill>
                <a:latin typeface="210 클레이토이"/>
                <a:ea typeface="210 클레이토이"/>
                <a:cs typeface="210 클레이토이"/>
                <a:sym typeface="210 클레이토이"/>
              </a:rPr>
              <a:t>THANK YOU!</a:t>
            </a:r>
          </a:p>
        </p:txBody>
      </p:sp>
      <p:sp>
        <p:nvSpPr>
          <p:cNvPr id="5" name="Freeform 5"/>
          <p:cNvSpPr/>
          <p:nvPr/>
        </p:nvSpPr>
        <p:spPr>
          <a:xfrm rot="6835262">
            <a:off x="15890332" y="-687585"/>
            <a:ext cx="4795336" cy="6288965"/>
          </a:xfrm>
          <a:custGeom>
            <a:avLst/>
            <a:gdLst/>
            <a:ahLst/>
            <a:cxnLst/>
            <a:rect l="l" t="t" r="r" b="b"/>
            <a:pathLst>
              <a:path w="4795336" h="6288965">
                <a:moveTo>
                  <a:pt x="0" y="0"/>
                </a:moveTo>
                <a:lnTo>
                  <a:pt x="4795336" y="0"/>
                </a:lnTo>
                <a:lnTo>
                  <a:pt x="4795336" y="6288965"/>
                </a:lnTo>
                <a:lnTo>
                  <a:pt x="0" y="628896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 rot="1744881">
            <a:off x="9053437" y="-1772836"/>
            <a:ext cx="3352272" cy="3545673"/>
          </a:xfrm>
          <a:custGeom>
            <a:avLst/>
            <a:gdLst/>
            <a:ahLst/>
            <a:cxnLst/>
            <a:rect l="l" t="t" r="r" b="b"/>
            <a:pathLst>
              <a:path w="3352272" h="3545673">
                <a:moveTo>
                  <a:pt x="0" y="0"/>
                </a:moveTo>
                <a:lnTo>
                  <a:pt x="3352272" y="0"/>
                </a:lnTo>
                <a:lnTo>
                  <a:pt x="3352272" y="3545672"/>
                </a:lnTo>
                <a:lnTo>
                  <a:pt x="0" y="354567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 rot="579840">
            <a:off x="9024939" y="2031289"/>
            <a:ext cx="2082159" cy="2505880"/>
          </a:xfrm>
          <a:custGeom>
            <a:avLst/>
            <a:gdLst/>
            <a:ahLst/>
            <a:cxnLst/>
            <a:rect l="l" t="t" r="r" b="b"/>
            <a:pathLst>
              <a:path w="2082159" h="2505880">
                <a:moveTo>
                  <a:pt x="0" y="0"/>
                </a:moveTo>
                <a:lnTo>
                  <a:pt x="2082159" y="0"/>
                </a:lnTo>
                <a:lnTo>
                  <a:pt x="2082159" y="2505880"/>
                </a:lnTo>
                <a:lnTo>
                  <a:pt x="0" y="250588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277</Words>
  <Application>Microsoft Office PowerPoint</Application>
  <PresentationFormat>Personalizado</PresentationFormat>
  <Paragraphs>53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Agrandir</vt:lpstr>
      <vt:lpstr>Arial</vt:lpstr>
      <vt:lpstr>210 클레이토이</vt:lpstr>
      <vt:lpstr>Calibri</vt:lpstr>
      <vt:lpstr>Agrandir Bold</vt:lpstr>
      <vt:lpstr>Agrandir Medium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Tutoria plus project presentation</dc:title>
  <cp:lastModifiedBy>Juan Camilo Cruz Pardo</cp:lastModifiedBy>
  <cp:revision>2</cp:revision>
  <dcterms:created xsi:type="dcterms:W3CDTF">2006-08-16T00:00:00Z</dcterms:created>
  <dcterms:modified xsi:type="dcterms:W3CDTF">2025-05-30T23:28:28Z</dcterms:modified>
  <dc:identifier>DAGoHqbEvGw</dc:identifier>
</cp:coreProperties>
</file>